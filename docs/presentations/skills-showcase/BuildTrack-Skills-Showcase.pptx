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4df530627924ec8" /><Relationship Type="http://schemas.openxmlformats.org/officeDocument/2006/relationships/extended-properties" Target="/docProps/app.xml" Id="Rce9d6a1d3a90454f" /><Relationship Type="http://schemas.openxmlformats.org/officeDocument/2006/relationships/officeDocument" Target="/ppt/presentation.xml" Id="R58440ac8a5964a52" /></Relationships>
</file>

<file path=ppt/presentation.xml><?xml version="1.0" encoding="utf-8"?>
<p:presentation xmlns:p="http://schemas.openxmlformats.org/presentationml/2006/main">
  <p:sldMasterIdLst>
    <p:sldMasterId xmlns:r="http://schemas.openxmlformats.org/officeDocument/2006/relationships" id="2147483648" r:id="Rc453bf54e57947bc"/>
  </p:sldMasterIdLst>
  <p:notesMasterIdLst>
    <p:notesMasterId xmlns:r="http://schemas.openxmlformats.org/officeDocument/2006/relationships" r:id="R79693a15aa0444aa"/>
  </p:notesMasterIdLst>
  <p:sldIdLst>
    <p:sldId xmlns:r="http://schemas.openxmlformats.org/officeDocument/2006/relationships" id="256" r:id="R6194a8c084dc4b22"/>
    <p:sldId xmlns:r="http://schemas.openxmlformats.org/officeDocument/2006/relationships" id="257" r:id="R67c5d4126a314268"/>
    <p:sldId xmlns:r="http://schemas.openxmlformats.org/officeDocument/2006/relationships" id="258" r:id="R8bbffd1e077e472f"/>
    <p:sldId xmlns:r="http://schemas.openxmlformats.org/officeDocument/2006/relationships" id="259" r:id="Re28d9a24acd44ea3"/>
    <p:sldId xmlns:r="http://schemas.openxmlformats.org/officeDocument/2006/relationships" id="260" r:id="Rd7509f9877b149cc"/>
    <p:sldId xmlns:r="http://schemas.openxmlformats.org/officeDocument/2006/relationships" id="261" r:id="R9a502054e45a4280"/>
    <p:sldId xmlns:r="http://schemas.openxmlformats.org/officeDocument/2006/relationships" id="262" r:id="R8bfc547fdde0425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bf260a533234860" /><Relationship Type="http://schemas.openxmlformats.org/officeDocument/2006/relationships/slideMaster" Target="/ppt/slideMasters/slideMaster1.xml" Id="Rc453bf54e57947bc" /><Relationship Type="http://schemas.openxmlformats.org/officeDocument/2006/relationships/notesMaster" Target="/ppt/notesMasters/notesMaster1.xml" Id="R79693a15aa0444aa" /><Relationship Type="http://schemas.openxmlformats.org/officeDocument/2006/relationships/presProps" Target="/ppt/presProps.xml" Id="Rb3d86ea3281846e5" /><Relationship Type="http://schemas.openxmlformats.org/officeDocument/2006/relationships/tableStyles" Target="/ppt/tableStyles.xml" Id="R2c43e91080ab407d" /><Relationship Type="http://schemas.openxmlformats.org/officeDocument/2006/relationships/slide" Target="/ppt/slides/slide1.xml" Id="R6194a8c084dc4b22" /><Relationship Type="http://schemas.openxmlformats.org/officeDocument/2006/relationships/slide" Target="/ppt/slides/slide2.xml" Id="R67c5d4126a314268" /><Relationship Type="http://schemas.openxmlformats.org/officeDocument/2006/relationships/slide" Target="/ppt/slides/slide3.xml" Id="R8bbffd1e077e472f" /><Relationship Type="http://schemas.openxmlformats.org/officeDocument/2006/relationships/slide" Target="/ppt/slides/slide4.xml" Id="Re28d9a24acd44ea3" /><Relationship Type="http://schemas.openxmlformats.org/officeDocument/2006/relationships/slide" Target="/ppt/slides/slide5.xml" Id="Rd7509f9877b149cc" /><Relationship Type="http://schemas.openxmlformats.org/officeDocument/2006/relationships/slide" Target="/ppt/slides/slide6.xml" Id="R9a502054e45a4280" /><Relationship Type="http://schemas.openxmlformats.org/officeDocument/2006/relationships/slide" Target="/ppt/slides/slide7.xml" Id="R8bfc547fdde0425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bccf8b962a9437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fbb63c9e1c9457e" /><Relationship Type="http://schemas.openxmlformats.org/officeDocument/2006/relationships/notesMaster" Target="/ppt/notesMasters/notesMaster1.xml" Id="R191cbb94684744c8" /></Relationships>
</file>

<file path=ppt/notesSlides/_rels/notesSlide2.xml.rels>&#65279;<?xml version="1.0" encoding="utf-8"?><Relationships xmlns="http://schemas.openxmlformats.org/package/2006/relationships"><Relationship Type="http://schemas.openxmlformats.org/officeDocument/2006/relationships/slide" Target="/ppt/slides/slide2.xml" Id="Rbb72accbc62842d9" /><Relationship Type="http://schemas.openxmlformats.org/officeDocument/2006/relationships/notesMaster" Target="/ppt/notesMasters/notesMaster1.xml" Id="R0c22d8348e714c38" /></Relationships>
</file>

<file path=ppt/notesSlides/_rels/notesSlide3.xml.rels>&#65279;<?xml version="1.0" encoding="utf-8"?><Relationships xmlns="http://schemas.openxmlformats.org/package/2006/relationships"><Relationship Type="http://schemas.openxmlformats.org/officeDocument/2006/relationships/slide" Target="/ppt/slides/slide3.xml" Id="Rcb4b445c2d3c4114" /><Relationship Type="http://schemas.openxmlformats.org/officeDocument/2006/relationships/notesMaster" Target="/ppt/notesMasters/notesMaster1.xml" Id="R919ab0fc55aa4c1b" /></Relationships>
</file>

<file path=ppt/notesSlides/_rels/notesSlide4.xml.rels>&#65279;<?xml version="1.0" encoding="utf-8"?><Relationships xmlns="http://schemas.openxmlformats.org/package/2006/relationships"><Relationship Type="http://schemas.openxmlformats.org/officeDocument/2006/relationships/slide" Target="/ppt/slides/slide4.xml" Id="Rda30b873661f4cd2" /><Relationship Type="http://schemas.openxmlformats.org/officeDocument/2006/relationships/notesMaster" Target="/ppt/notesMasters/notesMaster1.xml" Id="R9486970b546e4f45" /></Relationships>
</file>

<file path=ppt/notesSlides/_rels/notesSlide5.xml.rels>&#65279;<?xml version="1.0" encoding="utf-8"?><Relationships xmlns="http://schemas.openxmlformats.org/package/2006/relationships"><Relationship Type="http://schemas.openxmlformats.org/officeDocument/2006/relationships/slide" Target="/ppt/slides/slide5.xml" Id="R4e14d3b7432241e4" /><Relationship Type="http://schemas.openxmlformats.org/officeDocument/2006/relationships/notesMaster" Target="/ppt/notesMasters/notesMaster1.xml" Id="Rec06e3550d0344ba" /></Relationships>
</file>

<file path=ppt/notesSlides/_rels/notesSlide6.xml.rels>&#65279;<?xml version="1.0" encoding="utf-8"?><Relationships xmlns="http://schemas.openxmlformats.org/package/2006/relationships"><Relationship Type="http://schemas.openxmlformats.org/officeDocument/2006/relationships/slide" Target="/ppt/slides/slide6.xml" Id="Re2a561ab7c9142d5" /><Relationship Type="http://schemas.openxmlformats.org/officeDocument/2006/relationships/notesMaster" Target="/ppt/notesMasters/notesMaster1.xml" Id="Rdeabe490ad394f81" /></Relationships>
</file>

<file path=ppt/notesSlides/_rels/notesSlide7.xml.rels>&#65279;<?xml version="1.0" encoding="utf-8"?><Relationships xmlns="http://schemas.openxmlformats.org/package/2006/relationships"><Relationship Type="http://schemas.openxmlformats.org/officeDocument/2006/relationships/slide" Target="/ppt/slides/slide7.xml" Id="R73b2b829bf294287" /><Relationship Type="http://schemas.openxmlformats.org/officeDocument/2006/relationships/notesMaster" Target="/ppt/notesMasters/notesMaster1.xml" Id="Rec05ba3774bd4cc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00:00–00:30 (30 segundos).</a:t>
            </a:r>
          </a:p>
          <a:p xmlns:a="http://schemas.openxmlformats.org/drawingml/2006/main">
            <a:r>
              <a:t/>
            </a:r>
          </a:p>
          <a:p xmlns:a="http://schemas.openxmlformats.org/drawingml/2006/main">
            <a:r>
              <a:t>GUION SUGERIDO</a:t>
            </a:r>
          </a:p>
          <a:p xmlns:a="http://schemas.openxmlformats.org/drawingml/2006/main">
            <a:r>
              <a:t>BuildTrack busca centralizar el seguimiento de proyectos de remodelación comercial. Hoy tenemos una API en Python y FastAPI que consulta hitos y actualiza estados de hitos y tareas, con datos simulados en memoria. Investigamos skills para definir mejor los cambios, mantener las convenciones de la API y comprobar las reglas de negocio. Presentamos diez candidatas de tres repositorios.</a:t>
            </a:r>
          </a:p>
          <a:p xmlns:a="http://schemas.openxmlformats.org/drawingml/2006/main">
            <a:r>
              <a:t/>
            </a:r>
          </a:p>
          <a:p xmlns:a="http://schemas.openxmlformats.org/drawingml/2006/main">
            <a:r>
              <a:t>Distinguir el alcance del producto del código actual. El showcase dura 5 minutos. La demo final del desarrollo dura 10 minutos y corresponde a una etapa posterior.</a:t>
            </a:r>
          </a:p>
          <a:p xmlns:a="http://schemas.openxmlformats.org/drawingml/2006/main">
            <a:r>
              <a:t/>
            </a:r>
          </a:p>
          <a:p xmlns:a="http://schemas.openxmlformats.org/drawingml/2006/main">
            <a:r>
              <a:t>FUENTES</a:t>
            </a:r>
          </a:p>
          <a:p xmlns:a="http://schemas.openxmlformats.org/drawingml/2006/main">
            <a:r>
              <a:t>https://github.com/lhiguitab/BuildTrack/blob/main/AGENTS.md</a:t>
            </a:r>
          </a:p>
          <a:p xmlns:a="http://schemas.openxmlformats.org/drawingml/2006/main">
            <a:r>
              <a:t>https://github.com/lhiguitab/BuildTrack/blob/main/src/main.py</a:t>
            </a:r>
          </a:p>
          <a:p xmlns:a="http://schemas.openxmlformats.org/drawingml/2006/main">
            <a:r>
              <a:t>Material del curso: Semana 13, Revisión y uso de skills IA, suministrado por el equipo.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00:30–01:20 (50 segundos).</a:t>
            </a:r>
          </a:p>
          <a:p xmlns:a="http://schemas.openxmlformats.org/drawingml/2006/main">
            <a:r>
              <a:t/>
            </a:r>
          </a:p>
          <a:p xmlns:a="http://schemas.openxmlformats.org/drawingml/2006/main">
            <a:r>
              <a:t>GUION SUGERIDO</a:t>
            </a:r>
          </a:p>
          <a:p xmlns:a="http://schemas.openxmlformats.org/drawingml/2006/main">
            <a:r>
              <a:t>Las primeras cinco cubren planificación, implementación y pruebas. Brainstorming ayuda a precisar requisitos. Writing-plans los convierte en tareas verificables. FastAPI-templates aporta patrones de rutas y manejo de errores. Test-driven-development organiza el ciclo de una prueba que falla, implementación mínima y verificación. Python-testing-patterns ayuda a aislar datos y cubrir casos límite. Nuestro veredicto es adaptarlas: conservar la estructura actual, usar unittest y evitar que una plantilla añada infraestructura que todavía no hemos solicitado.</a:t>
            </a:r>
          </a:p>
          <a:p xmlns:a="http://schemas.openxmlformats.org/drawingml/2006/main">
            <a:r>
              <a:t/>
            </a:r>
          </a:p>
          <a:p xmlns:a="http://schemas.openxmlformats.org/drawingml/2006/main">
            <a:r>
              <a:t>Recorrer las cinco filas con una frase por skill. Los veredictos son preliminares. TDD se aplicará al cambio nuevo, preservando el trabajo existente. No afirmar que las skills ya se instalaron.</a:t>
            </a:r>
          </a:p>
          <a:p xmlns:a="http://schemas.openxmlformats.org/drawingml/2006/main">
            <a:r>
              <a:t/>
            </a:r>
          </a:p>
          <a:p xmlns:a="http://schemas.openxmlformats.org/drawingml/2006/main">
            <a:r>
              <a:t>FUENTES</a:t>
            </a:r>
          </a:p>
          <a:p xmlns:a="http://schemas.openxmlformats.org/drawingml/2006/main">
            <a:r>
              <a:t>https://github.com/obra/superpowers/blob/main/skills/brainstorming/SKILL.md</a:t>
            </a:r>
          </a:p>
          <a:p xmlns:a="http://schemas.openxmlformats.org/drawingml/2006/main">
            <a:r>
              <a:t>https://github.com/obra/superpowers/blob/main/skills/writing-plans/SKILL.md</a:t>
            </a:r>
          </a:p>
          <a:p xmlns:a="http://schemas.openxmlformats.org/drawingml/2006/main">
            <a:r>
              <a:t>https://github.com/wshobson/agents/blob/main/plugins/api-scaffolding/skills/fastapi-templates/SKILL.md</a:t>
            </a:r>
          </a:p>
          <a:p xmlns:a="http://schemas.openxmlformats.org/drawingml/2006/main">
            <a:r>
              <a:t>https://github.com/obra/superpowers/blob/main/skills/test-driven-development/SKILL.md</a:t>
            </a:r>
          </a:p>
          <a:p xmlns:a="http://schemas.openxmlformats.org/drawingml/2006/main">
            <a:r>
              <a:t>https://github.com/wshobson/agents/blob/main/plugins/python-development/skills/python-testing-patterns/SKILL.md</a:t>
            </a:r>
          </a:p>
          <a:p xmlns:a="http://schemas.openxmlformats.org/drawingml/2006/main">
            <a:r>
              <a:t>Material del curso: Semana 13, Revisión y uso de skills IA, suministrado por el equipo.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01:20–02:10 (50 segundos).</a:t>
            </a:r>
          </a:p>
          <a:p xmlns:a="http://schemas.openxmlformats.org/drawingml/2006/main">
            <a:r>
              <a:t/>
            </a:r>
          </a:p>
          <a:p xmlns:a="http://schemas.openxmlformats.org/drawingml/2006/main">
            <a:r>
              <a:t>GUION SUGERIDO</a:t>
            </a:r>
          </a:p>
          <a:p xmlns:a="http://schemas.openxmlformats.org/drawingml/2006/main">
            <a:r>
              <a:t>Las otras cinco apoyan la depuración y la revisión. Systematic-debugging propone reproducir el problema antes de corregirlo. Requesting-code-review compara los cambios con los requisitos. Verification-before-completion exige ejecutar comprobaciones antes de afirmar que el trabajo está listo. Sast-configuration orienta el análisis estático de seguridad y doc-coauthoring estructura la documentación. Seleccionamos depuración y verificación para adopción después del piloto. Las otras requieren ajustes de herramientas, alcance o forma de revisión. Estos son veredictos de selección, no resultados de instalación o de rendimiento.</a:t>
            </a:r>
          </a:p>
          <a:p xmlns:a="http://schemas.openxmlformats.org/drawingml/2006/main">
            <a:r>
              <a:t/>
            </a:r>
          </a:p>
          <a:p xmlns:a="http://schemas.openxmlformats.org/drawingml/2006/main">
            <a:r>
              <a:t>Los publicadores del catálogo son obra/superpowers, wshobson/agents y anthropics/skills. Los directorios de búsqueda ayudan a descubrir las skills, pero el contenido se revisa en el repositorio de origen.</a:t>
            </a:r>
          </a:p>
          <a:p xmlns:a="http://schemas.openxmlformats.org/drawingml/2006/main">
            <a:r>
              <a:t/>
            </a:r>
          </a:p>
          <a:p xmlns:a="http://schemas.openxmlformats.org/drawingml/2006/main">
            <a:r>
              <a:t>FUENTES</a:t>
            </a:r>
          </a:p>
          <a:p xmlns:a="http://schemas.openxmlformats.org/drawingml/2006/main">
            <a:r>
              <a:t>https://github.com/obra/superpowers/blob/main/skills/systematic-debugging/SKILL.md</a:t>
            </a:r>
          </a:p>
          <a:p xmlns:a="http://schemas.openxmlformats.org/drawingml/2006/main">
            <a:r>
              <a:t>https://github.com/obra/superpowers/blob/main/skills/requesting-code-review/SKILL.md</a:t>
            </a:r>
          </a:p>
          <a:p xmlns:a="http://schemas.openxmlformats.org/drawingml/2006/main">
            <a:r>
              <a:t>https://github.com/obra/superpowers/blob/main/skills/verification-before-completion/SKILL.md</a:t>
            </a:r>
          </a:p>
          <a:p xmlns:a="http://schemas.openxmlformats.org/drawingml/2006/main">
            <a:r>
              <a:t>https://github.com/wshobson/agents/blob/main/plugins/security-scanning/skills/sast-configuration/SKILL.md</a:t>
            </a:r>
          </a:p>
          <a:p xmlns:a="http://schemas.openxmlformats.org/drawingml/2006/main">
            <a:r>
              <a:t>https://github.com/anthropics/skills/blob/main/skills/doc-coauthoring/SKILL.md</a:t>
            </a:r>
          </a:p>
          <a:p xmlns:a="http://schemas.openxmlformats.org/drawingml/2006/main">
            <a:r>
              <a:t>Material del curso: Semana 13, Revisión y uso de skills IA, suministrado por el equipo.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02:10–02:50 (40 segundos).</a:t>
            </a:r>
          </a:p>
          <a:p xmlns:a="http://schemas.openxmlformats.org/drawingml/2006/main">
            <a:r>
              <a:t/>
            </a:r>
          </a:p>
          <a:p xmlns:a="http://schemas.openxmlformats.org/drawingml/2006/main">
            <a:r>
              <a:t>GUION SUGERIDO</a:t>
            </a:r>
          </a:p>
          <a:p xmlns:a="http://schemas.openxmlformats.org/drawingml/2006/main">
            <a:r>
              <a:t>Encontramos diferencias concretas al leer las skills. La plantilla FastAPI incluye autenticación y base de datos, fuera del alcance del slice actual. Los ejemplos de pruebas usan pytest, mientras el proyecto usa unittest. Algunas instrucciones proponen subagentes y deben ajustarse al modo de revisión que acordemos. Sast-configuration menciona un script que no aparece en su carpeta revisada. Descartamos copiar esas instrucciones sin adaptación. La popularidad y el origen oficial no sustituyen esta lectura.</a:t>
            </a:r>
          </a:p>
          <a:p xmlns:a="http://schemas.openxmlformats.org/drawingml/2006/main">
            <a:r>
              <a:t/>
            </a:r>
          </a:p>
          <a:p xmlns:a="http://schemas.openxmlformats.org/drawingml/2006/main">
            <a:r>
              <a:t>Precisar el alcance del descarte: rechazamos recetas sin adaptar, no afirmamos que toda la skill sea maliciosa. En el árbol revisado, sast-configuration solo tenía SKILL.md y mencionaba scripts/run-sast.sh. Falta auditar recursos y dependencias completos de las candidatas. No convertir ausencia de evidencia en una certificación de seguridad.</a:t>
            </a:r>
          </a:p>
          <a:p xmlns:a="http://schemas.openxmlformats.org/drawingml/2006/main">
            <a:r>
              <a:t/>
            </a:r>
          </a:p>
          <a:p xmlns:a="http://schemas.openxmlformats.org/drawingml/2006/main">
            <a:r>
              <a:t>FUENTES</a:t>
            </a:r>
          </a:p>
          <a:p xmlns:a="http://schemas.openxmlformats.org/drawingml/2006/main">
            <a:r>
              <a:t>https://github.com/wshobson/agents/blob/main/plugins/api-scaffolding/skills/fastapi-templates/SKILL.md</a:t>
            </a:r>
          </a:p>
          <a:p xmlns:a="http://schemas.openxmlformats.org/drawingml/2006/main">
            <a:r>
              <a:t>https://github.com/wshobson/agents/blob/main/plugins/python-development/skills/python-testing-patterns/SKILL.md</a:t>
            </a:r>
          </a:p>
          <a:p xmlns:a="http://schemas.openxmlformats.org/drawingml/2006/main">
            <a:r>
              <a:t>https://github.com/obra/superpowers/blob/main/skills/requesting-code-review/SKILL.md</a:t>
            </a:r>
          </a:p>
          <a:p xmlns:a="http://schemas.openxmlformats.org/drawingml/2006/main">
            <a:r>
              <a:t>https://github.com/wshobson/agents/blob/main/plugins/security-scanning/skills/sast-configuration/SKILL.md</a:t>
            </a:r>
          </a:p>
          <a:p xmlns:a="http://schemas.openxmlformats.org/drawingml/2006/main">
            <a:r>
              <a:t>https://github.com/lhiguitab/BuildTrack/blob/main/AGENTS.md</a:t>
            </a:r>
          </a:p>
          <a:p xmlns:a="http://schemas.openxmlformats.org/drawingml/2006/main">
            <a:r>
              <a:t>Material del curso: Semana 13, Revisión y uso de skills IA, suministrado por el equipo.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02:50–03:10 (20 segundos).</a:t>
            </a:r>
          </a:p>
          <a:p xmlns:a="http://schemas.openxmlformats.org/drawingml/2006/main">
            <a:r>
              <a:t/>
            </a:r>
          </a:p>
          <a:p xmlns:a="http://schemas.openxmlformats.org/drawingml/2006/main">
            <a:r>
              <a:t>GUION SUGERIDO</a:t>
            </a:r>
          </a:p>
          <a:p xmlns:a="http://schemas.openxmlformats.org/drawingml/2006/main">
            <a:r>
              <a:t>Como skill propia proponemos buildtrack-slice. Reunirá las convenciones ya documentadas: rutas delgadas, reglas en el servicio, validación antes de modificar datos y pruebas con unittest. Su ubicación será .claude/skills/buildtrack-slice/SKILL.md. Sigue pendiente crearla y probarla.</a:t>
            </a:r>
          </a:p>
          <a:p xmlns:a="http://schemas.openxmlformats.org/drawingml/2006/main">
            <a:r>
              <a:t/>
            </a:r>
          </a:p>
          <a:p xmlns:a="http://schemas.openxmlformats.org/drawingml/2006/main">
            <a:r>
              <a:t>Esta skill propia es una propuesta adicional al catálogo de diez skills externas. El PDF exige al menos una propia o adaptada en .claude/skills/. No presentar la propuesta como archivo existente.</a:t>
            </a:r>
          </a:p>
          <a:p xmlns:a="http://schemas.openxmlformats.org/drawingml/2006/main">
            <a:r>
              <a:t/>
            </a:r>
          </a:p>
          <a:p xmlns:a="http://schemas.openxmlformats.org/drawingml/2006/main">
            <a:r>
              <a:t>Compatibilidad con Codex: el PDF pide .claude/skills/. La documentación actual de Codex indica .agents/skills/ para descubrir skills del repositorio. Mantener el archivo exigido por la consigna y publicar una copia sincronizada o un enlace en la ruta de Codex. Esta preparación aún no se ha realizado. Fuente: https://learn.chatgpt.com/docs/build-skills</a:t>
            </a:r>
          </a:p>
          <a:p xmlns:a="http://schemas.openxmlformats.org/drawingml/2006/main">
            <a:r>
              <a:t/>
            </a:r>
          </a:p>
          <a:p xmlns:a="http://schemas.openxmlformats.org/drawingml/2006/main">
            <a:r>
              <a:t>FUENTES</a:t>
            </a:r>
          </a:p>
          <a:p xmlns:a="http://schemas.openxmlformats.org/drawingml/2006/main">
            <a:r>
              <a:t>https://github.com/lhiguitab/BuildTrack/blob/main/AGENTS.md</a:t>
            </a:r>
          </a:p>
          <a:p xmlns:a="http://schemas.openxmlformats.org/drawingml/2006/main">
            <a:r>
              <a:t>Material del curso: Semana 13, Revisión y uso de skills IA, suministrado por el equipo.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03:10–04:45 (95 segundos).</a:t>
            </a:r>
          </a:p>
          <a:p xmlns:a="http://schemas.openxmlformats.org/drawingml/2006/main">
            <a:r>
              <a:t/>
            </a:r>
          </a:p>
          <a:p xmlns:a="http://schemas.openxmlformats.org/drawingml/2006/main">
            <a:r>
              <a:t>GUION SUGERIDO</a:t>
            </a:r>
          </a:p>
          <a:p xmlns:a="http://schemas.openxmlformats.org/drawingml/2006/main">
            <a:r>
              <a:t>Para la demo elegimos verification-before-completion, del proyecto Superpowers, mantenido por Jesse Vincent y sus colaboradores. Queremos comprobar si la actualización de estados está lista para revisión. Ejecutaremos la misma petición con la skill y sin skills, en conversaciones separadas y sobre el mismo commit. Observaremos si ejecuta las pruebas, qué evidencia entrega y qué pendientes reconoce. Si las dos respuestas son equivalentes, lo diremos. No asumimos que la skill mejora el resultado.</a:t>
            </a:r>
          </a:p>
          <a:p xmlns:a="http://schemas.openxmlformats.org/drawingml/2006/main">
            <a:r>
              <a:t/>
            </a:r>
          </a:p>
          <a:p xmlns:a="http://schemas.openxmlformats.org/drawingml/2006/main">
            <a:r>
              <a:t>OPERACIÓN DE LA DEMO (95 segundos)</a:t>
            </a:r>
          </a:p>
          <a:p xmlns:a="http://schemas.openxmlformats.org/drawingml/2006/main">
            <a:r>
              <a:t>0–15 s: explicar problema y autoría.</a:t>
            </a:r>
          </a:p>
          <a:p xmlns:a="http://schemas.openxmlformats.org/drawingml/2006/main">
            <a:r>
              <a:t>15–45 s: mostrar ejecución con la skill.</a:t>
            </a:r>
          </a:p>
          <a:p xmlns:a="http://schemas.openxmlformats.org/drawingml/2006/main">
            <a:r>
              <a:t>45–75 s: mostrar ejecución sin skills.</a:t>
            </a:r>
          </a:p>
          <a:p xmlns:a="http://schemas.openxmlformats.org/drawingml/2006/main">
            <a:r>
              <a:t>75–95 s: comparar evidencia real y reconocer límites.</a:t>
            </a:r>
          </a:p>
          <a:p xmlns:a="http://schemas.openxmlformats.org/drawingml/2006/main">
            <a:r>
              <a:t/>
            </a:r>
          </a:p>
          <a:p xmlns:a="http://schemas.openxmlformats.org/drawingml/2006/main">
            <a:r>
              <a:t>Antes de exponer, confirmar herramienta y comando slash registrado. Mantener dos conversaciones separadas sobre el mismo commit, con dependencias instaladas previamente. No descargar ni instalar durante la demo. Revisar que la conversación sin skills no herede activaciones automáticas. No inventar salidas ni asumir superioridad.</a:t>
            </a:r>
          </a:p>
          <a:p xmlns:a="http://schemas.openxmlformats.org/drawingml/2006/main">
            <a:r>
              <a:t/>
            </a:r>
          </a:p>
          <a:p xmlns:a="http://schemas.openxmlformats.org/drawingml/2006/main">
            <a:r>
              <a:t>PETICIÓN COMÚN</a:t>
            </a:r>
          </a:p>
          <a:p xmlns:a="http://schemas.openxmlformats.org/drawingml/2006/main">
            <a:r>
              <a:t>Evalúa si la actualización de estados de tareas e hitos de BuildTrack está lista para revisión. Trabaja solo en lectura y conserva los archivos.</a:t>
            </a:r>
          </a:p>
          <a:p xmlns:a="http://schemas.openxmlformats.org/drawingml/2006/main">
            <a:r>
              <a:t/>
            </a:r>
          </a:p>
          <a:p xmlns:a="http://schemas.openxmlformats.org/drawingml/2006/main">
            <a:r>
              <a:t>CON SKILL</a:t>
            </a:r>
          </a:p>
          <a:p xmlns:a="http://schemas.openxmlformats.org/drawingml/2006/main">
            <a:r>
              <a:t>Invocar por slash el nombre que muestre la herramienta y añadir la petición común.</a:t>
            </a:r>
          </a:p>
          <a:p xmlns:a="http://schemas.openxmlformats.org/drawingml/2006/main">
            <a:r>
              <a:t/>
            </a:r>
          </a:p>
          <a:p xmlns:a="http://schemas.openxmlformats.org/drawingml/2006/main">
            <a:r>
              <a:t>SIN SKILLS</a:t>
            </a:r>
          </a:p>
          <a:p xmlns:a="http://schemas.openxmlformats.org/drawingml/2006/main">
            <a:r>
              <a:t>No uses verification-before-completion ni otras skills para esta comparación. [Añadir la misma petición común.]</a:t>
            </a:r>
          </a:p>
          <a:p xmlns:a="http://schemas.openxmlformats.org/drawingml/2006/main">
            <a:r>
              <a:t/>
            </a:r>
          </a:p>
          <a:p xmlns:a="http://schemas.openxmlformats.org/drawingml/2006/main">
            <a:r>
              <a:t>COMANDO DOCUMENTADO DE PRUEBAS</a:t>
            </a:r>
          </a:p>
          <a:p xmlns:a="http://schemas.openxmlformats.org/drawingml/2006/main">
            <a:r>
              <a:t>python -m unittest discover -s tests -v</a:t>
            </a:r>
          </a:p>
          <a:p xmlns:a="http://schemas.openxmlformats.org/drawingml/2006/main">
            <a:r>
              <a:t/>
            </a:r>
          </a:p>
          <a:p xmlns:a="http://schemas.openxmlformats.org/drawingml/2006/main">
            <a:r>
              <a:t>No asumir que cinco pruebas pasan: usar el resultado actual de la ejecución. Si el entorno falla, informar el bloqueo. Si ambas respuestas verifican igual, reportar equivalencia en esta tarea.</a:t>
            </a:r>
          </a:p>
          <a:p xmlns:a="http://schemas.openxmlformats.org/drawingml/2006/main">
            <a:r>
              <a:t/>
            </a:r>
          </a:p>
          <a:p xmlns:a="http://schemas.openxmlformats.org/drawingml/2006/main">
            <a:r>
              <a:t>HERRAMIENTA ELEGIDA: CODEX</a:t>
            </a:r>
          </a:p>
          <a:p xmlns:a="http://schemas.openxmlformats.org/drawingml/2006/main">
            <a:r>
              <a:t>Habilitar previamente la skill y comprobar que aparece en el selector. En Codex CLI o extensión IDE, abrir /skills y seleccionar verification-before-completion. En la app, escribir / y seleccionar la skill habilitada. El nombre mostrado puede incluir el prefijo del plugin. La mención explícita $verification-before-completion es una alternativa documentada, pero para mostrar el slash solicitado por el PDF se usará el selector. No inventar un comando slash que no aparezca.</a:t>
            </a:r>
          </a:p>
          <a:p xmlns:a="http://schemas.openxmlformats.org/drawingml/2006/main">
            <a:r>
              <a:t/>
            </a:r>
          </a:p>
          <a:p xmlns:a="http://schemas.openxmlformats.org/drawingml/2006/main">
            <a:r>
              <a:t>La disponibilidad en la instalación concreta sigue pendiente de ensayo. Fuente oficial: https://learn.chatgpt.com/docs/build-skills y https://learn.chatgpt.com/docs/reference/slash-commands</a:t>
            </a:r>
          </a:p>
          <a:p xmlns:a="http://schemas.openxmlformats.org/drawingml/2006/main">
            <a:r>
              <a:t/>
            </a:r>
          </a:p>
          <a:p xmlns:a="http://schemas.openxmlformats.org/drawingml/2006/main">
            <a:r>
              <a:t>FUENTES</a:t>
            </a:r>
          </a:p>
          <a:p xmlns:a="http://schemas.openxmlformats.org/drawingml/2006/main">
            <a:r>
              <a:t>https://github.com/obra/superpowers/blob/main/skills/verification-before-completion/SKILL.md</a:t>
            </a:r>
          </a:p>
          <a:p xmlns:a="http://schemas.openxmlformats.org/drawingml/2006/main">
            <a:r>
              <a:t>https://github.com/obra/superpowers/blob/main/README.md</a:t>
            </a:r>
          </a:p>
          <a:p xmlns:a="http://schemas.openxmlformats.org/drawingml/2006/main">
            <a:r>
              <a:t>https://github.com/lhiguitab/BuildTrack/blob/main/README.md</a:t>
            </a:r>
          </a:p>
          <a:p xmlns:a="http://schemas.openxmlformats.org/drawingml/2006/main">
            <a:r>
              <a:t>Material del curso: Semana 13, Revisión y uso de skills IA, suministrado por el equipo.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04:45–05:00 (15 segundos).</a:t>
            </a:r>
          </a:p>
          <a:p xmlns:a="http://schemas.openxmlformats.org/drawingml/2006/main">
            <a:r>
              <a:t/>
            </a:r>
          </a:p>
          <a:p xmlns:a="http://schemas.openxmlformats.org/drawingml/2006/main">
            <a:r>
              <a:t>GUION SUGERIDO</a:t>
            </a:r>
          </a:p>
          <a:p xmlns:a="http://schemas.openxmlformats.org/drawingml/2006/main">
            <a:r>
              <a:t>La selección queda ligada al trabajo real de BuildTrack. El siguiente paso es completar las fichas, crear la skill propia y ensayar la comparación. El desarrollo posterior tendrá su especificación, pruebas y PR con revisión humana.</a:t>
            </a:r>
          </a:p>
          <a:p xmlns:a="http://schemas.openxmlformats.org/drawingml/2006/main">
            <a:r>
              <a:t/>
            </a:r>
          </a:p>
          <a:p xmlns:a="http://schemas.openxmlformats.org/drawingml/2006/main">
            <a:r>
              <a:t>Cierre breve. El catálogo sigue pendiente de completar licencias por skill, commit o versión, fechas y revisión de recursos ejecutables. La comparación todavía no se ha realizado. No afirmar mejoras de tiempo, calidad o cobertura sin medirlas.</a:t>
            </a:r>
          </a:p>
          <a:p xmlns:a="http://schemas.openxmlformats.org/drawingml/2006/main">
            <a:r>
              <a:t/>
            </a:r>
          </a:p>
          <a:p xmlns:a="http://schemas.openxmlformats.org/drawingml/2006/main">
            <a:r>
              <a:t>FUENTES</a:t>
            </a:r>
          </a:p>
          <a:p xmlns:a="http://schemas.openxmlformats.org/drawingml/2006/main">
            <a:r>
              <a:t>https://github.com/lhiguitab/BuildTrack</a:t>
            </a:r>
          </a:p>
          <a:p xmlns:a="http://schemas.openxmlformats.org/drawingml/2006/main">
            <a:r>
              <a:t>Material del curso: Semana 13, Revisión y uso de skills IA, suministrado por el equipo.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2688235777945a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dc047753e16400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db36fc0eaf44d2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cbfa47d020d416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82a6e2d0bf24cc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1b1b1dd36dd4c4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FC6B856-3860-4EF7-9DBA-A852F122669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998D4F9-3808-4045-AA4E-C8F00BAC730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38BC7C5-0D50-49FF-8D95-6806AEC6AE5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817D1E6-078F-413C-B474-A18135553E9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ED4D7AD-5104-49EA-A956-710740E61A6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6577F40-F6BE-40DA-9E06-815FB442A29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0403EC5-90E9-4CA7-A809-7E09AF04E05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4E7FC6E-ED6A-4B43-848A-109745E3092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F849F08-3E4B-41F4-B282-4CA385C972A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D3C0B07-F73F-4F5B-9DF6-B2269A07728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16007dbcca84333" /><Relationship Type="http://schemas.openxmlformats.org/officeDocument/2006/relationships/slideLayout" Target="/ppt/slideLayouts/slideLayout1.xml" Id="R5cb2e150cb7344e4" /><Relationship Type="http://schemas.openxmlformats.org/officeDocument/2006/relationships/slideLayout" Target="/ppt/slideLayouts/slideLayout2.xml" Id="R242487913c53401b" /><Relationship Type="http://schemas.openxmlformats.org/officeDocument/2006/relationships/slideLayout" Target="/ppt/slideLayouts/slideLayout3.xml" Id="R037038c3ac164730" /><Relationship Type="http://schemas.openxmlformats.org/officeDocument/2006/relationships/slideLayout" Target="/ppt/slideLayouts/slideLayout4.xml" Id="R087bf821a166499d" /><Relationship Type="http://schemas.openxmlformats.org/officeDocument/2006/relationships/slideLayout" Target="/ppt/slideLayouts/slideLayout5.xml" Id="Rd18e6a08eae34cb0" /><Relationship Type="http://schemas.openxmlformats.org/officeDocument/2006/relationships/slideLayout" Target="/ppt/slideLayouts/slideLayout6.xml" Id="R6f62c10c7b5f4e3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cb2e150cb7344e4"/>
    <p:sldLayoutId xmlns:r="http://schemas.openxmlformats.org/officeDocument/2006/relationships" id="2147483650" r:id="R242487913c53401b"/>
    <p:sldLayoutId xmlns:r="http://schemas.openxmlformats.org/officeDocument/2006/relationships" id="2147483651" r:id="R037038c3ac164730"/>
    <p:sldLayoutId xmlns:r="http://schemas.openxmlformats.org/officeDocument/2006/relationships" id="2147483652" r:id="R087bf821a166499d"/>
    <p:sldLayoutId xmlns:r="http://schemas.openxmlformats.org/officeDocument/2006/relationships" id="2147483653" r:id="Rd18e6a08eae34cb0"/>
    <p:sldLayoutId xmlns:r="http://schemas.openxmlformats.org/officeDocument/2006/relationships" id="2147483654" r:id="R6f62c10c7b5f4e3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47e45fbc60a4a75" /><Relationship Type="http://schemas.openxmlformats.org/officeDocument/2006/relationships/notesSlide" Target="/ppt/notesSlides/notesSlide1.xml" Id="R952db3182d2b45d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4f35285ce6440a1" /><Relationship Type="http://schemas.openxmlformats.org/officeDocument/2006/relationships/notesSlide" Target="/ppt/notesSlides/notesSlide2.xml" Id="Re6fd64c07be54bf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d46dbf248f94af2" /><Relationship Type="http://schemas.openxmlformats.org/officeDocument/2006/relationships/notesSlide" Target="/ppt/notesSlides/notesSlide3.xml" Id="R4cf102966fb54e2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bdde79a8ba945d4" /><Relationship Type="http://schemas.openxmlformats.org/officeDocument/2006/relationships/notesSlide" Target="/ppt/notesSlides/notesSlide4.xml" Id="Rbed486ecaf0343f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50caac8b9a4436e" /><Relationship Type="http://schemas.openxmlformats.org/officeDocument/2006/relationships/notesSlide" Target="/ppt/notesSlides/notesSlide5.xml" Id="Rcc4a2d98c1f5419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bcfacb6d7314e83" /><Relationship Type="http://schemas.openxmlformats.org/officeDocument/2006/relationships/notesSlide" Target="/ppt/notesSlides/notesSlide6.xml" Id="R6bd43f9c3716436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13f88a4b6fb4bd9" /><Relationship Type="http://schemas.openxmlformats.org/officeDocument/2006/relationships/notesSlide" Target="/ppt/notesSlides/notesSlide7.xml" Id="R104ac075cf9d4c1a" /></Relationships>
</file>

<file path=ppt/slides/slide1.xml><?xml version="1.0" encoding="utf-8"?>
<p:sld xmlns:p="http://schemas.openxmlformats.org/presentationml/2006/main">
  <p:cSld>
    <p:bg>
      <p:bgPr>
        <a:solidFill xmlns:a="http://schemas.openxmlformats.org/drawingml/2006/main">
          <a:srgbClr val="0C1636"/>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624AE58-1CEA-4D7E-94E1-F9245AF397DC}"/>
              </a:ext>
            </a:extLst>
          </p:cNvPr>
          <p:cNvSpPr>
            <a:spLocks xmlns:a="http://schemas.openxmlformats.org/drawingml/2006/main" noGrp="1"/>
          </p:cNvSpPr>
          <p:nvPr/>
        </p:nvSpPr>
        <p:spPr>
          <a:xfrm xmlns:a="http://schemas.openxmlformats.org/drawingml/2006/main">
            <a:off x="647700" y="571500"/>
            <a:ext cx="10896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FFFFFF"/>
                </a:solidFill>
                <a:latin typeface="Arial"/>
                <a:ea typeface="Arial"/>
                <a:cs typeface="Arial"/>
              </a:defRPr>
            </a:defPPr>
          </a:lstStyle>
          <a:p xmlns:a="http://schemas.openxmlformats.org/drawingml/2006/main">
            <a:pPr>
              <a:buNone/>
              <a:defRPr sz="3300" b="1">
                <a:solidFill>
                  <a:srgbClr val="FFFFFF"/>
                </a:solidFill>
                <a:latin typeface="Arial"/>
                <a:ea typeface="Arial"/>
                <a:cs typeface="Arial"/>
              </a:defRPr>
            </a:pPr>
            <a:r>
              <a:rPr sz="3300" b="1">
                <a:solidFill>
                  <a:srgbClr val="FFFFFF"/>
                </a:solidFill>
                <a:latin typeface="Arial"/>
                <a:ea typeface="Arial"/>
                <a:cs typeface="Arial"/>
              </a:rPr>
              <a:t>Skills para BuildTrack</a:t>
            </a:r>
          </a:p>
        </p:txBody>
      </p:sp>
      <p:sp>
        <p:nvSpPr>
          <p:cNvPr id="2" name="">
            <a:extLst xmlns:a="http://schemas.openxmlformats.org/drawingml/2006/main">
              <a:ext uri="{FF2B5EF4-FFF2-40B4-BE49-F238E27FC236}">
                <a16:creationId xmlns:a16="http://schemas.microsoft.com/office/drawing/2014/main" id="{4C832B15-12D0-4960-8B67-1906C986EB36}"/>
              </a:ext>
            </a:extLst>
          </p:cNvPr>
          <p:cNvSpPr>
            <a:spLocks xmlns:a="http://schemas.openxmlformats.org/drawingml/2006/main" noGrp="1"/>
          </p:cNvSpPr>
          <p:nvPr/>
        </p:nvSpPr>
        <p:spPr>
          <a:xfrm xmlns:a="http://schemas.openxmlformats.org/drawingml/2006/main">
            <a:off x="647700" y="6343650"/>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78DDF1"/>
                </a:solidFill>
                <a:latin typeface="Arial"/>
                <a:ea typeface="Arial"/>
                <a:cs typeface="Arial"/>
              </a:defRPr>
            </a:defPPr>
          </a:lstStyle>
          <a:p xmlns:a="http://schemas.openxmlformats.org/drawingml/2006/main">
            <a:pPr>
              <a:buNone/>
              <a:defRPr sz="1500" b="0">
                <a:solidFill>
                  <a:srgbClr val="78DDF1"/>
                </a:solidFill>
                <a:latin typeface="Arial"/>
                <a:ea typeface="Arial"/>
                <a:cs typeface="Arial"/>
              </a:defRPr>
            </a:pPr>
            <a:r>
              <a:rPr sz="1500" b="0">
                <a:solidFill>
                  <a:srgbClr val="78DDF1"/>
                </a:solidFill>
                <a:latin typeface="Arial"/>
                <a:ea typeface="Arial"/>
                <a:cs typeface="Arial"/>
              </a:rPr>
              <a:t>1 / 7     00:00–00:30</a:t>
            </a:r>
          </a:p>
        </p:txBody>
      </p:sp>
      <p:sp>
        <p:nvSpPr>
          <p:cNvPr id="3" name="">
            <a:extLst xmlns:a="http://schemas.openxmlformats.org/drawingml/2006/main">
              <a:ext uri="{FF2B5EF4-FFF2-40B4-BE49-F238E27FC236}">
                <a16:creationId xmlns:a16="http://schemas.microsoft.com/office/drawing/2014/main" id="{2AAE6CF7-7097-4E4B-8081-5DC17E9253AB}"/>
              </a:ext>
            </a:extLst>
          </p:cNvPr>
          <p:cNvSpPr>
            <a:spLocks xmlns:a="http://schemas.openxmlformats.org/drawingml/2006/main" noGrp="1"/>
          </p:cNvSpPr>
          <p:nvPr/>
        </p:nvSpPr>
        <p:spPr>
          <a:xfrm xmlns:a="http://schemas.openxmlformats.org/drawingml/2006/main">
            <a:off x="647700" y="1628775"/>
            <a:ext cx="10896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700" b="0">
                <a:solidFill>
                  <a:srgbClr val="78DDF1"/>
                </a:solidFill>
                <a:latin typeface="Arial"/>
                <a:ea typeface="Arial"/>
                <a:cs typeface="Arial"/>
              </a:defRPr>
            </a:defPPr>
          </a:lstStyle>
          <a:p xmlns:a="http://schemas.openxmlformats.org/drawingml/2006/main">
            <a:pPr>
              <a:buNone/>
              <a:defRPr sz="2700" b="0">
                <a:solidFill>
                  <a:srgbClr val="78DDF1"/>
                </a:solidFill>
                <a:latin typeface="Arial"/>
                <a:ea typeface="Arial"/>
                <a:cs typeface="Arial"/>
              </a:defRPr>
            </a:pPr>
            <a:r>
              <a:rPr sz="2700" b="0">
                <a:solidFill>
                  <a:srgbClr val="78DDF1"/>
                </a:solidFill>
                <a:latin typeface="Arial"/>
                <a:ea typeface="Arial"/>
                <a:cs typeface="Arial"/>
              </a:rPr>
              <a:t>Un laboratorio sobre nuestro trabajo real</a:t>
            </a:r>
          </a:p>
        </p:txBody>
      </p:sp>
      <p:sp>
        <p:nvSpPr>
          <p:cNvPr id="4" name="">
            <a:extLst xmlns:a="http://schemas.openxmlformats.org/drawingml/2006/main">
              <a:ext uri="{FF2B5EF4-FFF2-40B4-BE49-F238E27FC236}">
                <a16:creationId xmlns:a16="http://schemas.microsoft.com/office/drawing/2014/main" id="{6BA2E5DC-96DD-46C4-928C-79D928185DF5}"/>
              </a:ext>
            </a:extLst>
          </p:cNvPr>
          <p:cNvSpPr>
            <a:spLocks xmlns:a="http://schemas.openxmlformats.org/drawingml/2006/main" noGrp="1"/>
          </p:cNvSpPr>
          <p:nvPr/>
        </p:nvSpPr>
        <p:spPr>
          <a:xfrm xmlns:a="http://schemas.openxmlformats.org/drawingml/2006/main">
            <a:off x="647700" y="2724150"/>
            <a:ext cx="1019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FFFFFF"/>
                </a:solidFill>
                <a:latin typeface="Arial"/>
                <a:ea typeface="Arial"/>
                <a:cs typeface="Arial"/>
              </a:defRPr>
            </a:defPPr>
          </a:lstStyle>
          <a:p xmlns:a="http://schemas.openxmlformats.org/drawingml/2006/main">
            <a:pPr>
              <a:buNone/>
              <a:defRPr sz="3150" b="1">
                <a:solidFill>
                  <a:srgbClr val="FFFFFF"/>
                </a:solidFill>
                <a:latin typeface="Arial"/>
                <a:ea typeface="Arial"/>
                <a:cs typeface="Arial"/>
              </a:defRPr>
            </a:pPr>
            <a:r>
              <a:rPr sz="3150" b="1">
                <a:solidFill>
                  <a:srgbClr val="FFFFFF"/>
                </a:solidFill>
                <a:latin typeface="Arial"/>
                <a:ea typeface="Arial"/>
                <a:cs typeface="Arial"/>
              </a:rPr>
              <a:t>Seguimiento de hitos y tareas de obra</a:t>
            </a:r>
          </a:p>
        </p:txBody>
      </p:sp>
      <p:sp>
        <p:nvSpPr>
          <p:cNvPr id="5" name="">
            <a:extLst xmlns:a="http://schemas.openxmlformats.org/drawingml/2006/main">
              <a:ext uri="{FF2B5EF4-FFF2-40B4-BE49-F238E27FC236}">
                <a16:creationId xmlns:a16="http://schemas.microsoft.com/office/drawing/2014/main" id="{0B500F93-A8B2-4481-8A5D-4E8C802C0B81}"/>
              </a:ext>
            </a:extLst>
          </p:cNvPr>
          <p:cNvSpPr>
            <a:spLocks xmlns:a="http://schemas.openxmlformats.org/drawingml/2006/main" noGrp="1"/>
          </p:cNvSpPr>
          <p:nvPr/>
        </p:nvSpPr>
        <p:spPr>
          <a:xfrm xmlns:a="http://schemas.openxmlformats.org/drawingml/2006/main">
            <a:off x="647700" y="3657600"/>
            <a:ext cx="9810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0">
                <a:solidFill>
                  <a:srgbClr val="FFFFFF"/>
                </a:solidFill>
                <a:latin typeface="Arial"/>
                <a:ea typeface="Arial"/>
                <a:cs typeface="Arial"/>
              </a:defRPr>
            </a:defPPr>
          </a:lstStyle>
          <a:p xmlns:a="http://schemas.openxmlformats.org/drawingml/2006/main">
            <a:pPr>
              <a:buNone/>
              <a:defRPr sz="2400" b="0">
                <a:solidFill>
                  <a:srgbClr val="FFFFFF"/>
                </a:solidFill>
                <a:latin typeface="Arial"/>
                <a:ea typeface="Arial"/>
                <a:cs typeface="Arial"/>
              </a:defRPr>
            </a:pPr>
            <a:r>
              <a:rPr sz="2400" b="0">
                <a:solidFill>
                  <a:srgbClr val="FFFFFF"/>
                </a:solidFill>
                <a:latin typeface="Arial"/>
                <a:ea typeface="Arial"/>
                <a:cs typeface="Arial"/>
              </a:rPr>
              <a:t>API en Python y FastAPI</a:t>
            </a:r>
          </a:p>
          <a:p xmlns:a="http://schemas.openxmlformats.org/drawingml/2006/main">
            <a:pPr>
              <a:buNone/>
              <a:defRPr sz="2400" b="0">
                <a:solidFill>
                  <a:srgbClr val="FFFFFF"/>
                </a:solidFill>
                <a:latin typeface="Arial"/>
                <a:ea typeface="Arial"/>
                <a:cs typeface="Arial"/>
              </a:defRPr>
            </a:pPr>
            <a:r>
              <a:rPr sz="2400" b="0">
                <a:solidFill>
                  <a:srgbClr val="FFFFFF"/>
                </a:solidFill>
                <a:latin typeface="Arial"/>
                <a:ea typeface="Arial"/>
                <a:cs typeface="Arial"/>
              </a:rPr>
              <a:t>Datos simulados en memoria</a:t>
            </a:r>
          </a:p>
        </p:txBody>
      </p:sp>
      <p:sp>
        <p:nvSpPr>
          <p:cNvPr id="6" name="">
            <a:extLst xmlns:a="http://schemas.openxmlformats.org/drawingml/2006/main">
              <a:ext uri="{FF2B5EF4-FFF2-40B4-BE49-F238E27FC236}">
                <a16:creationId xmlns:a16="http://schemas.microsoft.com/office/drawing/2014/main" id="{E1164908-52B2-4915-B9FA-E852D07E7E64}"/>
              </a:ext>
            </a:extLst>
          </p:cNvPr>
          <p:cNvSpPr>
            <a:spLocks xmlns:a="http://schemas.openxmlformats.org/drawingml/2006/main" noGrp="1"/>
          </p:cNvSpPr>
          <p:nvPr/>
        </p:nvSpPr>
        <p:spPr>
          <a:xfrm xmlns:a="http://schemas.openxmlformats.org/drawingml/2006/main">
            <a:off x="647700" y="5324475"/>
            <a:ext cx="10896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78DDF1"/>
                </a:solidFill>
                <a:latin typeface="Arial"/>
                <a:ea typeface="Arial"/>
                <a:cs typeface="Arial"/>
              </a:defRPr>
            </a:defPPr>
          </a:lstStyle>
          <a:p xmlns:a="http://schemas.openxmlformats.org/drawingml/2006/main">
            <a:pPr>
              <a:buNone/>
              <a:defRPr sz="2100" b="0">
                <a:solidFill>
                  <a:srgbClr val="78DDF1"/>
                </a:solidFill>
                <a:latin typeface="Arial"/>
                <a:ea typeface="Arial"/>
                <a:cs typeface="Arial"/>
              </a:defRPr>
            </a:pPr>
            <a:r>
              <a:rPr sz="2100" b="0">
                <a:solidFill>
                  <a:srgbClr val="78DDF1"/>
                </a:solidFill>
                <a:latin typeface="Arial"/>
                <a:ea typeface="Arial"/>
                <a:cs typeface="Arial"/>
              </a:rPr>
              <a:t>10 skills investigadas en 3 repositorios</a:t>
            </a:r>
          </a:p>
        </p:txBody>
      </p:sp>
    </p:spTree>
    <p:extLst>
      <p:ext uri="{BB962C8B-B14F-4D97-AF65-F5344CB8AC3E}">
        <p14:creationId xmlns:p14="http://schemas.microsoft.com/office/powerpoint/2010/main" val="781404879"/>
      </p:ext>
    </p:extLst>
  </p:cSld>
</p:sld>
</file>

<file path=ppt/slides/slide2.xml><?xml version="1.0" encoding="utf-8"?>
<p:sld xmlns:p="http://schemas.openxmlformats.org/presentationml/2006/main">
  <p:cSld>
    <p:bg>
      <p:bgPr>
        <a:solidFill xmlns:a="http://schemas.openxmlformats.org/drawingml/2006/main">
          <a:srgbClr val="F7F8F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BECA2CF-1423-4D5C-98A1-407B545490A6}"/>
              </a:ext>
            </a:extLst>
          </p:cNvPr>
          <p:cNvSpPr>
            <a:spLocks xmlns:a="http://schemas.openxmlformats.org/drawingml/2006/main" noGrp="1"/>
          </p:cNvSpPr>
          <p:nvPr/>
        </p:nvSpPr>
        <p:spPr>
          <a:xfrm xmlns:a="http://schemas.openxmlformats.org/drawingml/2006/main">
            <a:off x="647700" y="571500"/>
            <a:ext cx="10896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0C1636"/>
                </a:solidFill>
                <a:latin typeface="Arial"/>
                <a:ea typeface="Arial"/>
                <a:cs typeface="Arial"/>
              </a:defRPr>
            </a:defPPr>
          </a:lstStyle>
          <a:p xmlns:a="http://schemas.openxmlformats.org/drawingml/2006/main">
            <a:pPr>
              <a:buNone/>
              <a:defRPr sz="3300" b="1">
                <a:solidFill>
                  <a:srgbClr val="0C1636"/>
                </a:solidFill>
                <a:latin typeface="Arial"/>
                <a:ea typeface="Arial"/>
                <a:cs typeface="Arial"/>
              </a:defRPr>
            </a:pPr>
            <a:r>
              <a:rPr sz="3300" b="1">
                <a:solidFill>
                  <a:srgbClr val="0C1636"/>
                </a:solidFill>
                <a:latin typeface="Arial"/>
                <a:ea typeface="Arial"/>
                <a:cs typeface="Arial"/>
              </a:rPr>
              <a:t>Planificación, API y pruebas</a:t>
            </a:r>
          </a:p>
        </p:txBody>
      </p:sp>
      <p:sp>
        <p:nvSpPr>
          <p:cNvPr id="2" name="">
            <a:extLst xmlns:a="http://schemas.openxmlformats.org/drawingml/2006/main">
              <a:ext uri="{FF2B5EF4-FFF2-40B4-BE49-F238E27FC236}">
                <a16:creationId xmlns:a16="http://schemas.microsoft.com/office/drawing/2014/main" id="{94F6CDD6-3A2F-4C64-A8D5-C675B31B85D3}"/>
              </a:ext>
            </a:extLst>
          </p:cNvPr>
          <p:cNvSpPr>
            <a:spLocks xmlns:a="http://schemas.openxmlformats.org/drawingml/2006/main" noGrp="1"/>
          </p:cNvSpPr>
          <p:nvPr/>
        </p:nvSpPr>
        <p:spPr>
          <a:xfrm xmlns:a="http://schemas.openxmlformats.org/drawingml/2006/main">
            <a:off x="647700" y="6343650"/>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3617A"/>
                </a:solidFill>
                <a:latin typeface="Arial"/>
                <a:ea typeface="Arial"/>
                <a:cs typeface="Arial"/>
              </a:defRPr>
            </a:defPPr>
          </a:lstStyle>
          <a:p xmlns:a="http://schemas.openxmlformats.org/drawingml/2006/main">
            <a:pPr>
              <a:buNone/>
              <a:defRPr sz="1500" b="0">
                <a:solidFill>
                  <a:srgbClr val="53617A"/>
                </a:solidFill>
                <a:latin typeface="Arial"/>
                <a:ea typeface="Arial"/>
                <a:cs typeface="Arial"/>
              </a:defRPr>
            </a:pPr>
            <a:r>
              <a:rPr sz="1500" b="0">
                <a:solidFill>
                  <a:srgbClr val="53617A"/>
                </a:solidFill>
                <a:latin typeface="Arial"/>
                <a:ea typeface="Arial"/>
                <a:cs typeface="Arial"/>
              </a:rPr>
              <a:t>2 / 7     00:30–01:20</a:t>
            </a:r>
          </a:p>
        </p:txBody>
      </p:sp>
      <p:graphicFrame>
        <p:nvGraphicFramePr>
          <p:cNvPr id="3" name="">
            <a:extLst xmlns:a="http://schemas.openxmlformats.org/drawingml/2006/main">
              <a:ext uri="{FF2B5EF4-FFF2-40B4-BE49-F238E27FC236}">
                <a16:creationId xmlns:a16="http://schemas.microsoft.com/office/drawing/2014/main" id="{E5F3A77D-3467-4B80-B905-AA34C30FA255}"/>
              </a:ext>
            </a:extLst>
          </p:cNvPr>
          <p:cNvGraphicFramePr/>
          <p:nvPr/>
        </p:nvGraphicFramePr>
        <p:xfrm>
          <a:off xmlns:a="http://schemas.openxmlformats.org/drawingml/2006/main" x="647700" y="1704975"/>
          <a:ext xmlns:a="http://schemas.openxmlformats.org/drawingml/2006/main" cx="10896600" cy="3905250"/>
        </p:xfrm>
        <a:graphic xmlns:a="http://schemas.openxmlformats.org/drawingml/2006/main">
          <a:graphicData uri="http://schemas.openxmlformats.org/drawingml/2006/table">
            <a:tbl>
              <a:tblPr/>
              <a:tblGrid>
                <a:gridCol w="4191000"/>
                <a:gridCol w="4514850"/>
                <a:gridCol w="2190750"/>
              </a:tblGrid>
              <a:tr h="552450">
                <a:tc>
                  <a:txBody>
                    <a:bodyPr/>
                    <a:lstStyle/>
                    <a:p>
                      <a:r>
                        <a:rPr sz="1800" b="1">
                          <a:solidFill>
                            <a:srgbClr val="FFFFFF"/>
                          </a:solidFill>
                          <a:latin typeface="Arial"/>
                          <a:ea typeface="Arial"/>
                          <a:cs typeface="Arial"/>
                        </a:rPr>
                        <a:t>Skill</a:t>
                      </a:r>
                    </a:p>
                  </a:txBody>
                  <a:tcPr marL="91440" marR="91440" marT="45720" marB="45720">
                    <a:lnL w="7620">
                      <a:solidFill>
                        <a:srgbClr val="DBE1EB"/>
                      </a:solidFill>
                      <a:prstDash val="solid"/>
                    </a:lnL>
                    <a:lnR w="7620">
                      <a:solidFill>
                        <a:srgbClr val="DBE1EB"/>
                      </a:solidFill>
                      <a:prstDash val="solid"/>
                    </a:lnR>
                    <a:lnT w="7620">
                      <a:solidFill>
                        <a:srgbClr val="DBE1EB"/>
                      </a:solidFill>
                      <a:prstDash val="solid"/>
                    </a:lnT>
                    <a:lnB w="7620">
                      <a:solidFill>
                        <a:srgbClr val="DBE1EB"/>
                      </a:solidFill>
                      <a:prstDash val="solid"/>
                    </a:lnB>
                    <a:solidFill>
                      <a:srgbClr val="0C1636"/>
                    </a:solidFill>
                  </a:tcPr>
                </a:tc>
                <a:tc>
                  <a:txBody>
                    <a:bodyPr/>
                    <a:lstStyle/>
                    <a:p>
                      <a:r>
                        <a:rPr sz="1800" b="1">
                          <a:solidFill>
                            <a:srgbClr val="FFFFFF"/>
                          </a:solidFill>
                          <a:latin typeface="Arial"/>
                          <a:ea typeface="Arial"/>
                          <a:cs typeface="Arial"/>
                        </a:rPr>
                        <a:t>Uso en BuildTrack</a:t>
                      </a:r>
                    </a:p>
                  </a:txBody>
                  <a:tcPr marL="91440" marR="91440" marT="45720" marB="45720">
                    <a:lnR w="7620">
                      <a:solidFill>
                        <a:srgbClr val="DBE1EB"/>
                      </a:solidFill>
                      <a:prstDash val="solid"/>
                    </a:lnR>
                    <a:lnT w="7620">
                      <a:solidFill>
                        <a:srgbClr val="DBE1EB"/>
                      </a:solidFill>
                      <a:prstDash val="solid"/>
                    </a:lnT>
                    <a:lnB w="7620">
                      <a:solidFill>
                        <a:srgbClr val="DBE1EB"/>
                      </a:solidFill>
                      <a:prstDash val="solid"/>
                    </a:lnB>
                    <a:solidFill>
                      <a:srgbClr val="0C1636"/>
                    </a:solidFill>
                  </a:tcPr>
                </a:tc>
                <a:tc>
                  <a:txBody>
                    <a:bodyPr/>
                    <a:lstStyle/>
                    <a:p>
                      <a:r>
                        <a:rPr sz="1800" b="1">
                          <a:solidFill>
                            <a:srgbClr val="FFFFFF"/>
                          </a:solidFill>
                          <a:latin typeface="Arial"/>
                          <a:ea typeface="Arial"/>
                          <a:cs typeface="Arial"/>
                        </a:rPr>
                        <a:t>Veredicto</a:t>
                      </a:r>
                    </a:p>
                  </a:txBody>
                  <a:tcPr marL="91440" marR="91440" marT="45720" marB="45720">
                    <a:lnR w="7620">
                      <a:solidFill>
                        <a:srgbClr val="DBE1EB"/>
                      </a:solidFill>
                      <a:prstDash val="solid"/>
                    </a:lnR>
                    <a:lnT w="7620">
                      <a:solidFill>
                        <a:srgbClr val="DBE1EB"/>
                      </a:solidFill>
                      <a:prstDash val="solid"/>
                    </a:lnT>
                    <a:lnB w="7620">
                      <a:solidFill>
                        <a:srgbClr val="DBE1EB"/>
                      </a:solidFill>
                      <a:prstDash val="solid"/>
                    </a:lnB>
                    <a:solidFill>
                      <a:srgbClr val="0C1636"/>
                    </a:solidFill>
                  </a:tcPr>
                </a:tc>
              </a:tr>
              <a:tr h="666750">
                <a:tc>
                  <a:txBody>
                    <a:bodyPr/>
                    <a:lstStyle/>
                    <a:p>
                      <a:r>
                        <a:rPr sz="1800" b="0">
                          <a:solidFill>
                            <a:srgbClr val="17213C"/>
                          </a:solidFill>
                          <a:latin typeface="Arial"/>
                          <a:ea typeface="Arial"/>
                          <a:cs typeface="Arial"/>
                        </a:rPr>
                        <a:t>brainstorming</a:t>
                      </a:r>
                    </a:p>
                  </a:txBody>
                  <a:tcPr marL="91440" marR="91440" marT="45720" marB="45720">
                    <a:lnL w="7620">
                      <a:solidFill>
                        <a:srgbClr val="DBE1EB"/>
                      </a:solidFill>
                      <a:prstDash val="solid"/>
                    </a:lnL>
                    <a:lnR w="7620">
                      <a:solidFill>
                        <a:srgbClr val="DBE1EB"/>
                      </a:solidFill>
                      <a:prstDash val="solid"/>
                    </a:lnR>
                    <a:lnB w="7620">
                      <a:solidFill>
                        <a:srgbClr val="DBE1EB"/>
                      </a:solidFill>
                      <a:prstDash val="solid"/>
                    </a:lnB>
                    <a:solidFill>
                      <a:srgbClr val="FFFFFF"/>
                    </a:solidFill>
                  </a:tcPr>
                </a:tc>
                <a:tc>
                  <a:txBody>
                    <a:bodyPr/>
                    <a:lstStyle/>
                    <a:p>
                      <a:r>
                        <a:rPr sz="1800" b="0">
                          <a:solidFill>
                            <a:srgbClr val="17213C"/>
                          </a:solidFill>
                          <a:latin typeface="Arial"/>
                          <a:ea typeface="Arial"/>
                          <a:cs typeface="Arial"/>
                        </a:rPr>
                        <a:t>Precisar requisitos y límites</a:t>
                      </a:r>
                    </a:p>
                  </a:txBody>
                  <a:tcPr marL="91440" marR="91440" marT="45720" marB="45720">
                    <a:lnR w="7620">
                      <a:solidFill>
                        <a:srgbClr val="DBE1EB"/>
                      </a:solidFill>
                      <a:prstDash val="solid"/>
                    </a:lnR>
                    <a:lnB w="7620">
                      <a:solidFill>
                        <a:srgbClr val="DBE1EB"/>
                      </a:solidFill>
                      <a:prstDash val="solid"/>
                    </a:lnB>
                    <a:solidFill>
                      <a:srgbClr val="FFFFFF"/>
                    </a:solidFill>
                  </a:tcPr>
                </a:tc>
                <a:tc>
                  <a:txBody>
                    <a:bodyPr/>
                    <a:lstStyle/>
                    <a:p>
                      <a:r>
                        <a:rPr sz="1800" b="1">
                          <a:solidFill>
                            <a:srgbClr val="195BE4"/>
                          </a:solidFill>
                          <a:latin typeface="Arial"/>
                          <a:ea typeface="Arial"/>
                          <a:cs typeface="Arial"/>
                        </a:rPr>
                        <a:t>Adaptar</a:t>
                      </a:r>
                    </a:p>
                  </a:txBody>
                  <a:tcPr marL="91440" marR="91440" marT="45720" marB="45720">
                    <a:lnR w="7620">
                      <a:solidFill>
                        <a:srgbClr val="DBE1EB"/>
                      </a:solidFill>
                      <a:prstDash val="solid"/>
                    </a:lnR>
                    <a:lnB w="7620">
                      <a:solidFill>
                        <a:srgbClr val="DBE1EB"/>
                      </a:solidFill>
                      <a:prstDash val="solid"/>
                    </a:lnB>
                    <a:solidFill>
                      <a:srgbClr val="FFFFFF"/>
                    </a:solidFill>
                  </a:tcPr>
                </a:tc>
              </a:tr>
              <a:tr h="666750">
                <a:tc>
                  <a:txBody>
                    <a:bodyPr/>
                    <a:lstStyle/>
                    <a:p>
                      <a:r>
                        <a:rPr sz="1800" b="0">
                          <a:solidFill>
                            <a:srgbClr val="17213C"/>
                          </a:solidFill>
                          <a:latin typeface="Arial"/>
                          <a:ea typeface="Arial"/>
                          <a:cs typeface="Arial"/>
                        </a:rPr>
                        <a:t>writing-plans</a:t>
                      </a:r>
                    </a:p>
                  </a:txBody>
                  <a:tcPr marL="91440" marR="91440" marT="45720" marB="45720">
                    <a:lnL w="7620">
                      <a:solidFill>
                        <a:srgbClr val="DBE1EB"/>
                      </a:solidFill>
                      <a:prstDash val="solid"/>
                    </a:lnL>
                    <a:lnR w="7620">
                      <a:solidFill>
                        <a:srgbClr val="DBE1EB"/>
                      </a:solidFill>
                      <a:prstDash val="solid"/>
                    </a:lnR>
                    <a:lnB w="7620">
                      <a:solidFill>
                        <a:srgbClr val="DBE1EB"/>
                      </a:solidFill>
                      <a:prstDash val="solid"/>
                    </a:lnB>
                    <a:solidFill>
                      <a:srgbClr val="EDF1F7"/>
                    </a:solidFill>
                  </a:tcPr>
                </a:tc>
                <a:tc>
                  <a:txBody>
                    <a:bodyPr/>
                    <a:lstStyle/>
                    <a:p>
                      <a:r>
                        <a:rPr sz="1800" b="0">
                          <a:solidFill>
                            <a:srgbClr val="17213C"/>
                          </a:solidFill>
                          <a:latin typeface="Arial"/>
                          <a:ea typeface="Arial"/>
                          <a:cs typeface="Arial"/>
                        </a:rPr>
                        <a:t>Desglosar tareas verificables</a:t>
                      </a:r>
                    </a:p>
                  </a:txBody>
                  <a:tcPr marL="91440" marR="91440" marT="45720" marB="45720">
                    <a:lnR w="7620">
                      <a:solidFill>
                        <a:srgbClr val="DBE1EB"/>
                      </a:solidFill>
                      <a:prstDash val="solid"/>
                    </a:lnR>
                    <a:lnB w="7620">
                      <a:solidFill>
                        <a:srgbClr val="DBE1EB"/>
                      </a:solidFill>
                      <a:prstDash val="solid"/>
                    </a:lnB>
                    <a:solidFill>
                      <a:srgbClr val="EDF1F7"/>
                    </a:solidFill>
                  </a:tcPr>
                </a:tc>
                <a:tc>
                  <a:txBody>
                    <a:bodyPr/>
                    <a:lstStyle/>
                    <a:p>
                      <a:r>
                        <a:rPr sz="1800" b="1">
                          <a:solidFill>
                            <a:srgbClr val="195BE4"/>
                          </a:solidFill>
                          <a:latin typeface="Arial"/>
                          <a:ea typeface="Arial"/>
                          <a:cs typeface="Arial"/>
                        </a:rPr>
                        <a:t>Adaptar</a:t>
                      </a:r>
                    </a:p>
                  </a:txBody>
                  <a:tcPr marL="91440" marR="91440" marT="45720" marB="45720">
                    <a:lnR w="7620">
                      <a:solidFill>
                        <a:srgbClr val="DBE1EB"/>
                      </a:solidFill>
                      <a:prstDash val="solid"/>
                    </a:lnR>
                    <a:lnB w="7620">
                      <a:solidFill>
                        <a:srgbClr val="DBE1EB"/>
                      </a:solidFill>
                      <a:prstDash val="solid"/>
                    </a:lnB>
                    <a:solidFill>
                      <a:srgbClr val="EDF1F7"/>
                    </a:solidFill>
                  </a:tcPr>
                </a:tc>
              </a:tr>
              <a:tr h="666750">
                <a:tc>
                  <a:txBody>
                    <a:bodyPr/>
                    <a:lstStyle/>
                    <a:p>
                      <a:r>
                        <a:rPr sz="1800" b="0">
                          <a:solidFill>
                            <a:srgbClr val="17213C"/>
                          </a:solidFill>
                          <a:latin typeface="Arial"/>
                          <a:ea typeface="Arial"/>
                          <a:cs typeface="Arial"/>
                        </a:rPr>
                        <a:t>fastapi-templates</a:t>
                      </a:r>
                    </a:p>
                  </a:txBody>
                  <a:tcPr marL="91440" marR="91440" marT="45720" marB="45720">
                    <a:lnL w="7620">
                      <a:solidFill>
                        <a:srgbClr val="DBE1EB"/>
                      </a:solidFill>
                      <a:prstDash val="solid"/>
                    </a:lnL>
                    <a:lnR w="7620">
                      <a:solidFill>
                        <a:srgbClr val="DBE1EB"/>
                      </a:solidFill>
                      <a:prstDash val="solid"/>
                    </a:lnR>
                    <a:lnB w="7620">
                      <a:solidFill>
                        <a:srgbClr val="DBE1EB"/>
                      </a:solidFill>
                      <a:prstDash val="solid"/>
                    </a:lnB>
                    <a:solidFill>
                      <a:srgbClr val="FFFFFF"/>
                    </a:solidFill>
                  </a:tcPr>
                </a:tc>
                <a:tc>
                  <a:txBody>
                    <a:bodyPr/>
                    <a:lstStyle/>
                    <a:p>
                      <a:r>
                        <a:rPr sz="1800" b="0">
                          <a:solidFill>
                            <a:srgbClr val="17213C"/>
                          </a:solidFill>
                          <a:latin typeface="Arial"/>
                          <a:ea typeface="Arial"/>
                          <a:cs typeface="Arial"/>
                        </a:rPr>
                        <a:t>Estructurar rutas y errores</a:t>
                      </a:r>
                    </a:p>
                  </a:txBody>
                  <a:tcPr marL="91440" marR="91440" marT="45720" marB="45720">
                    <a:lnR w="7620">
                      <a:solidFill>
                        <a:srgbClr val="DBE1EB"/>
                      </a:solidFill>
                      <a:prstDash val="solid"/>
                    </a:lnR>
                    <a:lnB w="7620">
                      <a:solidFill>
                        <a:srgbClr val="DBE1EB"/>
                      </a:solidFill>
                      <a:prstDash val="solid"/>
                    </a:lnB>
                    <a:solidFill>
                      <a:srgbClr val="FFFFFF"/>
                    </a:solidFill>
                  </a:tcPr>
                </a:tc>
                <a:tc>
                  <a:txBody>
                    <a:bodyPr/>
                    <a:lstStyle/>
                    <a:p>
                      <a:r>
                        <a:rPr sz="1800" b="1">
                          <a:solidFill>
                            <a:srgbClr val="195BE4"/>
                          </a:solidFill>
                          <a:latin typeface="Arial"/>
                          <a:ea typeface="Arial"/>
                          <a:cs typeface="Arial"/>
                        </a:rPr>
                        <a:t>Adaptar</a:t>
                      </a:r>
                    </a:p>
                  </a:txBody>
                  <a:tcPr marL="91440" marR="91440" marT="45720" marB="45720">
                    <a:lnR w="7620">
                      <a:solidFill>
                        <a:srgbClr val="DBE1EB"/>
                      </a:solidFill>
                      <a:prstDash val="solid"/>
                    </a:lnR>
                    <a:lnB w="7620">
                      <a:solidFill>
                        <a:srgbClr val="DBE1EB"/>
                      </a:solidFill>
                      <a:prstDash val="solid"/>
                    </a:lnB>
                    <a:solidFill>
                      <a:srgbClr val="FFFFFF"/>
                    </a:solidFill>
                  </a:tcPr>
                </a:tc>
              </a:tr>
              <a:tr h="666750">
                <a:tc>
                  <a:txBody>
                    <a:bodyPr/>
                    <a:lstStyle/>
                    <a:p>
                      <a:r>
                        <a:rPr sz="1800" b="0">
                          <a:solidFill>
                            <a:srgbClr val="17213C"/>
                          </a:solidFill>
                          <a:latin typeface="Arial"/>
                          <a:ea typeface="Arial"/>
                          <a:cs typeface="Arial"/>
                        </a:rPr>
                        <a:t>test-driven-development</a:t>
                      </a:r>
                    </a:p>
                  </a:txBody>
                  <a:tcPr marL="91440" marR="91440" marT="45720" marB="45720">
                    <a:lnL w="7620">
                      <a:solidFill>
                        <a:srgbClr val="DBE1EB"/>
                      </a:solidFill>
                      <a:prstDash val="solid"/>
                    </a:lnL>
                    <a:lnR w="7620">
                      <a:solidFill>
                        <a:srgbClr val="DBE1EB"/>
                      </a:solidFill>
                      <a:prstDash val="solid"/>
                    </a:lnR>
                    <a:lnB w="7620">
                      <a:solidFill>
                        <a:srgbClr val="DBE1EB"/>
                      </a:solidFill>
                      <a:prstDash val="solid"/>
                    </a:lnB>
                    <a:solidFill>
                      <a:srgbClr val="EDF1F7"/>
                    </a:solidFill>
                  </a:tcPr>
                </a:tc>
                <a:tc>
                  <a:txBody>
                    <a:bodyPr/>
                    <a:lstStyle/>
                    <a:p>
                      <a:r>
                        <a:rPr sz="1800" b="0">
                          <a:solidFill>
                            <a:srgbClr val="17213C"/>
                          </a:solidFill>
                          <a:latin typeface="Arial"/>
                          <a:ea typeface="Arial"/>
                          <a:cs typeface="Arial"/>
                        </a:rPr>
                        <a:t>Probar antes de implementar</a:t>
                      </a:r>
                    </a:p>
                  </a:txBody>
                  <a:tcPr marL="91440" marR="91440" marT="45720" marB="45720">
                    <a:lnR w="7620">
                      <a:solidFill>
                        <a:srgbClr val="DBE1EB"/>
                      </a:solidFill>
                      <a:prstDash val="solid"/>
                    </a:lnR>
                    <a:lnB w="7620">
                      <a:solidFill>
                        <a:srgbClr val="DBE1EB"/>
                      </a:solidFill>
                      <a:prstDash val="solid"/>
                    </a:lnB>
                    <a:solidFill>
                      <a:srgbClr val="EDF1F7"/>
                    </a:solidFill>
                  </a:tcPr>
                </a:tc>
                <a:tc>
                  <a:txBody>
                    <a:bodyPr/>
                    <a:lstStyle/>
                    <a:p>
                      <a:r>
                        <a:rPr sz="1800" b="1">
                          <a:solidFill>
                            <a:srgbClr val="195BE4"/>
                          </a:solidFill>
                          <a:latin typeface="Arial"/>
                          <a:ea typeface="Arial"/>
                          <a:cs typeface="Arial"/>
                        </a:rPr>
                        <a:t>Adaptar</a:t>
                      </a:r>
                    </a:p>
                  </a:txBody>
                  <a:tcPr marL="91440" marR="91440" marT="45720" marB="45720">
                    <a:lnR w="7620">
                      <a:solidFill>
                        <a:srgbClr val="DBE1EB"/>
                      </a:solidFill>
                      <a:prstDash val="solid"/>
                    </a:lnR>
                    <a:lnB w="7620">
                      <a:solidFill>
                        <a:srgbClr val="DBE1EB"/>
                      </a:solidFill>
                      <a:prstDash val="solid"/>
                    </a:lnB>
                    <a:solidFill>
                      <a:srgbClr val="EDF1F7"/>
                    </a:solidFill>
                  </a:tcPr>
                </a:tc>
              </a:tr>
              <a:tr h="666750">
                <a:tc>
                  <a:txBody>
                    <a:bodyPr/>
                    <a:lstStyle/>
                    <a:p>
                      <a:r>
                        <a:rPr sz="1800" b="0">
                          <a:solidFill>
                            <a:srgbClr val="17213C"/>
                          </a:solidFill>
                          <a:latin typeface="Arial"/>
                          <a:ea typeface="Arial"/>
                          <a:cs typeface="Arial"/>
                        </a:rPr>
                        <a:t>python-testing-patterns</a:t>
                      </a:r>
                    </a:p>
                  </a:txBody>
                  <a:tcPr marL="91440" marR="91440" marT="45720" marB="45720">
                    <a:lnL w="7620">
                      <a:solidFill>
                        <a:srgbClr val="DBE1EB"/>
                      </a:solidFill>
                      <a:prstDash val="solid"/>
                    </a:lnL>
                    <a:lnR w="7620">
                      <a:solidFill>
                        <a:srgbClr val="DBE1EB"/>
                      </a:solidFill>
                      <a:prstDash val="solid"/>
                    </a:lnR>
                    <a:lnB w="7620">
                      <a:solidFill>
                        <a:srgbClr val="DBE1EB"/>
                      </a:solidFill>
                      <a:prstDash val="solid"/>
                    </a:lnB>
                    <a:solidFill>
                      <a:srgbClr val="FFFFFF"/>
                    </a:solidFill>
                  </a:tcPr>
                </a:tc>
                <a:tc>
                  <a:txBody>
                    <a:bodyPr/>
                    <a:lstStyle/>
                    <a:p>
                      <a:r>
                        <a:rPr sz="1800" b="0">
                          <a:solidFill>
                            <a:srgbClr val="17213C"/>
                          </a:solidFill>
                          <a:latin typeface="Arial"/>
                          <a:ea typeface="Arial"/>
                          <a:cs typeface="Arial"/>
                        </a:rPr>
                        <a:t>Aislar datos y cubrir casos límite</a:t>
                      </a:r>
                    </a:p>
                  </a:txBody>
                  <a:tcPr marL="91440" marR="91440" marT="45720" marB="45720">
                    <a:lnR w="7620">
                      <a:solidFill>
                        <a:srgbClr val="DBE1EB"/>
                      </a:solidFill>
                      <a:prstDash val="solid"/>
                    </a:lnR>
                    <a:lnB w="7620">
                      <a:solidFill>
                        <a:srgbClr val="DBE1EB"/>
                      </a:solidFill>
                      <a:prstDash val="solid"/>
                    </a:lnB>
                    <a:solidFill>
                      <a:srgbClr val="FFFFFF"/>
                    </a:solidFill>
                  </a:tcPr>
                </a:tc>
                <a:tc>
                  <a:txBody>
                    <a:bodyPr/>
                    <a:lstStyle/>
                    <a:p>
                      <a:r>
                        <a:rPr sz="1800" b="1">
                          <a:solidFill>
                            <a:srgbClr val="195BE4"/>
                          </a:solidFill>
                          <a:latin typeface="Arial"/>
                          <a:ea typeface="Arial"/>
                          <a:cs typeface="Arial"/>
                        </a:rPr>
                        <a:t>Adaptar</a:t>
                      </a:r>
                    </a:p>
                  </a:txBody>
                  <a:tcPr marL="91440" marR="91440" marT="45720" marB="45720">
                    <a:lnR w="7620">
                      <a:solidFill>
                        <a:srgbClr val="DBE1EB"/>
                      </a:solidFill>
                      <a:prstDash val="solid"/>
                    </a:lnR>
                    <a:lnB w="7620">
                      <a:solidFill>
                        <a:srgbClr val="DBE1EB"/>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C599C1B6-2F67-495D-8AF3-2A5F9560D80C}"/>
              </a:ext>
            </a:extLst>
          </p:cNvPr>
          <p:cNvSpPr>
            <a:spLocks xmlns:a="http://schemas.openxmlformats.org/drawingml/2006/main" noGrp="1"/>
          </p:cNvSpPr>
          <p:nvPr/>
        </p:nvSpPr>
        <p:spPr>
          <a:xfrm xmlns:a="http://schemas.openxmlformats.org/drawingml/2006/main">
            <a:off x="647700" y="5819775"/>
            <a:ext cx="10896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3617A"/>
                </a:solidFill>
                <a:latin typeface="Arial"/>
                <a:ea typeface="Arial"/>
                <a:cs typeface="Arial"/>
              </a:defRPr>
            </a:defPPr>
          </a:lstStyle>
          <a:p xmlns:a="http://schemas.openxmlformats.org/drawingml/2006/main">
            <a:pPr>
              <a:buNone/>
              <a:defRPr sz="1800" b="0">
                <a:solidFill>
                  <a:srgbClr val="53617A"/>
                </a:solidFill>
                <a:latin typeface="Arial"/>
                <a:ea typeface="Arial"/>
                <a:cs typeface="Arial"/>
              </a:defRPr>
            </a:pPr>
            <a:r>
              <a:rPr sz="1800" b="0">
                <a:solidFill>
                  <a:srgbClr val="53617A"/>
                </a:solidFill>
                <a:latin typeface="Arial"/>
                <a:ea typeface="Arial"/>
                <a:cs typeface="Arial"/>
              </a:rPr>
              <a:t>Adaptación propuesta: misma estructura y pruebas con unittest</a:t>
            </a:r>
          </a:p>
        </p:txBody>
      </p:sp>
    </p:spTree>
    <p:extLst>
      <p:ext uri="{BB962C8B-B14F-4D97-AF65-F5344CB8AC3E}">
        <p14:creationId xmlns:p14="http://schemas.microsoft.com/office/powerpoint/2010/main" val="2062736173"/>
      </p:ext>
    </p:extLst>
  </p:cSld>
</p:sld>
</file>

<file path=ppt/slides/slide3.xml><?xml version="1.0" encoding="utf-8"?>
<p:sld xmlns:p="http://schemas.openxmlformats.org/presentationml/2006/main">
  <p:cSld>
    <p:bg>
      <p:bgPr>
        <a:solidFill xmlns:a="http://schemas.openxmlformats.org/drawingml/2006/main">
          <a:srgbClr val="F7F8F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DCA70CC-6396-489A-BD51-C244226FFE7E}"/>
              </a:ext>
            </a:extLst>
          </p:cNvPr>
          <p:cNvSpPr>
            <a:spLocks xmlns:a="http://schemas.openxmlformats.org/drawingml/2006/main" noGrp="1"/>
          </p:cNvSpPr>
          <p:nvPr/>
        </p:nvSpPr>
        <p:spPr>
          <a:xfrm xmlns:a="http://schemas.openxmlformats.org/drawingml/2006/main">
            <a:off x="647700" y="571500"/>
            <a:ext cx="10896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0C1636"/>
                </a:solidFill>
                <a:latin typeface="Arial"/>
                <a:ea typeface="Arial"/>
                <a:cs typeface="Arial"/>
              </a:defRPr>
            </a:defPPr>
          </a:lstStyle>
          <a:p xmlns:a="http://schemas.openxmlformats.org/drawingml/2006/main">
            <a:pPr>
              <a:buNone/>
              <a:defRPr sz="3300" b="1">
                <a:solidFill>
                  <a:srgbClr val="0C1636"/>
                </a:solidFill>
                <a:latin typeface="Arial"/>
                <a:ea typeface="Arial"/>
                <a:cs typeface="Arial"/>
              </a:defRPr>
            </a:pPr>
            <a:r>
              <a:rPr sz="3300" b="1">
                <a:solidFill>
                  <a:srgbClr val="0C1636"/>
                </a:solidFill>
                <a:latin typeface="Arial"/>
                <a:ea typeface="Arial"/>
                <a:cs typeface="Arial"/>
              </a:rPr>
              <a:t>Depuración, revisión y documentación</a:t>
            </a:r>
          </a:p>
        </p:txBody>
      </p:sp>
      <p:sp>
        <p:nvSpPr>
          <p:cNvPr id="2" name="">
            <a:extLst xmlns:a="http://schemas.openxmlformats.org/drawingml/2006/main">
              <a:ext uri="{FF2B5EF4-FFF2-40B4-BE49-F238E27FC236}">
                <a16:creationId xmlns:a16="http://schemas.microsoft.com/office/drawing/2014/main" id="{9D2AD8C3-2047-41F6-825B-AA74630BA6EF}"/>
              </a:ext>
            </a:extLst>
          </p:cNvPr>
          <p:cNvSpPr>
            <a:spLocks xmlns:a="http://schemas.openxmlformats.org/drawingml/2006/main" noGrp="1"/>
          </p:cNvSpPr>
          <p:nvPr/>
        </p:nvSpPr>
        <p:spPr>
          <a:xfrm xmlns:a="http://schemas.openxmlformats.org/drawingml/2006/main">
            <a:off x="647700" y="6343650"/>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3617A"/>
                </a:solidFill>
                <a:latin typeface="Arial"/>
                <a:ea typeface="Arial"/>
                <a:cs typeface="Arial"/>
              </a:defRPr>
            </a:defPPr>
          </a:lstStyle>
          <a:p xmlns:a="http://schemas.openxmlformats.org/drawingml/2006/main">
            <a:pPr>
              <a:buNone/>
              <a:defRPr sz="1500" b="0">
                <a:solidFill>
                  <a:srgbClr val="53617A"/>
                </a:solidFill>
                <a:latin typeface="Arial"/>
                <a:ea typeface="Arial"/>
                <a:cs typeface="Arial"/>
              </a:defRPr>
            </a:pPr>
            <a:r>
              <a:rPr sz="1500" b="0">
                <a:solidFill>
                  <a:srgbClr val="53617A"/>
                </a:solidFill>
                <a:latin typeface="Arial"/>
                <a:ea typeface="Arial"/>
                <a:cs typeface="Arial"/>
              </a:rPr>
              <a:t>3 / 7     01:20–02:10</a:t>
            </a:r>
          </a:p>
        </p:txBody>
      </p:sp>
      <p:graphicFrame>
        <p:nvGraphicFramePr>
          <p:cNvPr id="3" name="">
            <a:extLst xmlns:a="http://schemas.openxmlformats.org/drawingml/2006/main">
              <a:ext uri="{FF2B5EF4-FFF2-40B4-BE49-F238E27FC236}">
                <a16:creationId xmlns:a16="http://schemas.microsoft.com/office/drawing/2014/main" id="{F7856C23-599F-416D-ADA8-BD744AFC2CC4}"/>
              </a:ext>
            </a:extLst>
          </p:cNvPr>
          <p:cNvGraphicFramePr/>
          <p:nvPr/>
        </p:nvGraphicFramePr>
        <p:xfrm>
          <a:off xmlns:a="http://schemas.openxmlformats.org/drawingml/2006/main" x="647700" y="1704975"/>
          <a:ext xmlns:a="http://schemas.openxmlformats.org/drawingml/2006/main" cx="10896600" cy="3905250"/>
        </p:xfrm>
        <a:graphic xmlns:a="http://schemas.openxmlformats.org/drawingml/2006/main">
          <a:graphicData uri="http://schemas.openxmlformats.org/drawingml/2006/table">
            <a:tbl>
              <a:tblPr/>
              <a:tblGrid>
                <a:gridCol w="4191000"/>
                <a:gridCol w="4514850"/>
                <a:gridCol w="2190750"/>
              </a:tblGrid>
              <a:tr h="552450">
                <a:tc>
                  <a:txBody>
                    <a:bodyPr/>
                    <a:lstStyle/>
                    <a:p>
                      <a:r>
                        <a:rPr sz="1800" b="1">
                          <a:solidFill>
                            <a:srgbClr val="FFFFFF"/>
                          </a:solidFill>
                          <a:latin typeface="Arial"/>
                          <a:ea typeface="Arial"/>
                          <a:cs typeface="Arial"/>
                        </a:rPr>
                        <a:t>Skill</a:t>
                      </a:r>
                    </a:p>
                  </a:txBody>
                  <a:tcPr marL="91440" marR="91440" marT="45720" marB="45720">
                    <a:lnL w="7620">
                      <a:solidFill>
                        <a:srgbClr val="DBE1EB"/>
                      </a:solidFill>
                      <a:prstDash val="solid"/>
                    </a:lnL>
                    <a:lnR w="7620">
                      <a:solidFill>
                        <a:srgbClr val="DBE1EB"/>
                      </a:solidFill>
                      <a:prstDash val="solid"/>
                    </a:lnR>
                    <a:lnT w="7620">
                      <a:solidFill>
                        <a:srgbClr val="DBE1EB"/>
                      </a:solidFill>
                      <a:prstDash val="solid"/>
                    </a:lnT>
                    <a:lnB w="7620">
                      <a:solidFill>
                        <a:srgbClr val="DBE1EB"/>
                      </a:solidFill>
                      <a:prstDash val="solid"/>
                    </a:lnB>
                    <a:solidFill>
                      <a:srgbClr val="0C1636"/>
                    </a:solidFill>
                  </a:tcPr>
                </a:tc>
                <a:tc>
                  <a:txBody>
                    <a:bodyPr/>
                    <a:lstStyle/>
                    <a:p>
                      <a:r>
                        <a:rPr sz="1800" b="1">
                          <a:solidFill>
                            <a:srgbClr val="FFFFFF"/>
                          </a:solidFill>
                          <a:latin typeface="Arial"/>
                          <a:ea typeface="Arial"/>
                          <a:cs typeface="Arial"/>
                        </a:rPr>
                        <a:t>Uso en BuildTrack</a:t>
                      </a:r>
                    </a:p>
                  </a:txBody>
                  <a:tcPr marL="91440" marR="91440" marT="45720" marB="45720">
                    <a:lnR w="7620">
                      <a:solidFill>
                        <a:srgbClr val="DBE1EB"/>
                      </a:solidFill>
                      <a:prstDash val="solid"/>
                    </a:lnR>
                    <a:lnT w="7620">
                      <a:solidFill>
                        <a:srgbClr val="DBE1EB"/>
                      </a:solidFill>
                      <a:prstDash val="solid"/>
                    </a:lnT>
                    <a:lnB w="7620">
                      <a:solidFill>
                        <a:srgbClr val="DBE1EB"/>
                      </a:solidFill>
                      <a:prstDash val="solid"/>
                    </a:lnB>
                    <a:solidFill>
                      <a:srgbClr val="0C1636"/>
                    </a:solidFill>
                  </a:tcPr>
                </a:tc>
                <a:tc>
                  <a:txBody>
                    <a:bodyPr/>
                    <a:lstStyle/>
                    <a:p>
                      <a:r>
                        <a:rPr sz="1800" b="1">
                          <a:solidFill>
                            <a:srgbClr val="FFFFFF"/>
                          </a:solidFill>
                          <a:latin typeface="Arial"/>
                          <a:ea typeface="Arial"/>
                          <a:cs typeface="Arial"/>
                        </a:rPr>
                        <a:t>Veredicto</a:t>
                      </a:r>
                    </a:p>
                  </a:txBody>
                  <a:tcPr marL="91440" marR="91440" marT="45720" marB="45720">
                    <a:lnR w="7620">
                      <a:solidFill>
                        <a:srgbClr val="DBE1EB"/>
                      </a:solidFill>
                      <a:prstDash val="solid"/>
                    </a:lnR>
                    <a:lnT w="7620">
                      <a:solidFill>
                        <a:srgbClr val="DBE1EB"/>
                      </a:solidFill>
                      <a:prstDash val="solid"/>
                    </a:lnT>
                    <a:lnB w="7620">
                      <a:solidFill>
                        <a:srgbClr val="DBE1EB"/>
                      </a:solidFill>
                      <a:prstDash val="solid"/>
                    </a:lnB>
                    <a:solidFill>
                      <a:srgbClr val="0C1636"/>
                    </a:solidFill>
                  </a:tcPr>
                </a:tc>
              </a:tr>
              <a:tr h="666750">
                <a:tc>
                  <a:txBody>
                    <a:bodyPr/>
                    <a:lstStyle/>
                    <a:p>
                      <a:r>
                        <a:rPr sz="1800" b="0">
                          <a:solidFill>
                            <a:srgbClr val="17213C"/>
                          </a:solidFill>
                          <a:latin typeface="Arial"/>
                          <a:ea typeface="Arial"/>
                          <a:cs typeface="Arial"/>
                        </a:rPr>
                        <a:t>systematic-debugging</a:t>
                      </a:r>
                    </a:p>
                  </a:txBody>
                  <a:tcPr marL="91440" marR="91440" marT="45720" marB="45720">
                    <a:lnL w="7620">
                      <a:solidFill>
                        <a:srgbClr val="DBE1EB"/>
                      </a:solidFill>
                      <a:prstDash val="solid"/>
                    </a:lnL>
                    <a:lnR w="7620">
                      <a:solidFill>
                        <a:srgbClr val="DBE1EB"/>
                      </a:solidFill>
                      <a:prstDash val="solid"/>
                    </a:lnR>
                    <a:lnB w="7620">
                      <a:solidFill>
                        <a:srgbClr val="DBE1EB"/>
                      </a:solidFill>
                      <a:prstDash val="solid"/>
                    </a:lnB>
                    <a:solidFill>
                      <a:srgbClr val="FFFFFF"/>
                    </a:solidFill>
                  </a:tcPr>
                </a:tc>
                <a:tc>
                  <a:txBody>
                    <a:bodyPr/>
                    <a:lstStyle/>
                    <a:p>
                      <a:r>
                        <a:rPr sz="1800" b="0">
                          <a:solidFill>
                            <a:srgbClr val="17213C"/>
                          </a:solidFill>
                          <a:latin typeface="Arial"/>
                          <a:ea typeface="Arial"/>
                          <a:cs typeface="Arial"/>
                        </a:rPr>
                        <a:t>Reproducir y buscar la causa</a:t>
                      </a:r>
                    </a:p>
                  </a:txBody>
                  <a:tcPr marL="91440" marR="91440" marT="45720" marB="45720">
                    <a:lnR w="7620">
                      <a:solidFill>
                        <a:srgbClr val="DBE1EB"/>
                      </a:solidFill>
                      <a:prstDash val="solid"/>
                    </a:lnR>
                    <a:lnB w="7620">
                      <a:solidFill>
                        <a:srgbClr val="DBE1EB"/>
                      </a:solidFill>
                      <a:prstDash val="solid"/>
                    </a:lnB>
                    <a:solidFill>
                      <a:srgbClr val="FFFFFF"/>
                    </a:solidFill>
                  </a:tcPr>
                </a:tc>
                <a:tc>
                  <a:txBody>
                    <a:bodyPr/>
                    <a:lstStyle/>
                    <a:p>
                      <a:r>
                        <a:rPr sz="1800" b="1">
                          <a:solidFill>
                            <a:srgbClr val="195BE4"/>
                          </a:solidFill>
                          <a:latin typeface="Arial"/>
                          <a:ea typeface="Arial"/>
                          <a:cs typeface="Arial"/>
                        </a:rPr>
                        <a:t>Adoptar*</a:t>
                      </a:r>
                    </a:p>
                  </a:txBody>
                  <a:tcPr marL="91440" marR="91440" marT="45720" marB="45720">
                    <a:lnR w="7620">
                      <a:solidFill>
                        <a:srgbClr val="DBE1EB"/>
                      </a:solidFill>
                      <a:prstDash val="solid"/>
                    </a:lnR>
                    <a:lnB w="7620">
                      <a:solidFill>
                        <a:srgbClr val="DBE1EB"/>
                      </a:solidFill>
                      <a:prstDash val="solid"/>
                    </a:lnB>
                    <a:solidFill>
                      <a:srgbClr val="FFFFFF"/>
                    </a:solidFill>
                  </a:tcPr>
                </a:tc>
              </a:tr>
              <a:tr h="666750">
                <a:tc>
                  <a:txBody>
                    <a:bodyPr/>
                    <a:lstStyle/>
                    <a:p>
                      <a:r>
                        <a:rPr sz="1800" b="0">
                          <a:solidFill>
                            <a:srgbClr val="17213C"/>
                          </a:solidFill>
                          <a:latin typeface="Arial"/>
                          <a:ea typeface="Arial"/>
                          <a:cs typeface="Arial"/>
                        </a:rPr>
                        <a:t>requesting-code-review</a:t>
                      </a:r>
                    </a:p>
                  </a:txBody>
                  <a:tcPr marL="91440" marR="91440" marT="45720" marB="45720">
                    <a:lnL w="7620">
                      <a:solidFill>
                        <a:srgbClr val="DBE1EB"/>
                      </a:solidFill>
                      <a:prstDash val="solid"/>
                    </a:lnL>
                    <a:lnR w="7620">
                      <a:solidFill>
                        <a:srgbClr val="DBE1EB"/>
                      </a:solidFill>
                      <a:prstDash val="solid"/>
                    </a:lnR>
                    <a:lnB w="7620">
                      <a:solidFill>
                        <a:srgbClr val="DBE1EB"/>
                      </a:solidFill>
                      <a:prstDash val="solid"/>
                    </a:lnB>
                    <a:solidFill>
                      <a:srgbClr val="EDF1F7"/>
                    </a:solidFill>
                  </a:tcPr>
                </a:tc>
                <a:tc>
                  <a:txBody>
                    <a:bodyPr/>
                    <a:lstStyle/>
                    <a:p>
                      <a:r>
                        <a:rPr sz="1800" b="0">
                          <a:solidFill>
                            <a:srgbClr val="17213C"/>
                          </a:solidFill>
                          <a:latin typeface="Arial"/>
                          <a:ea typeface="Arial"/>
                          <a:cs typeface="Arial"/>
                        </a:rPr>
                        <a:t>Contrastar código y requisitos</a:t>
                      </a:r>
                    </a:p>
                  </a:txBody>
                  <a:tcPr marL="91440" marR="91440" marT="45720" marB="45720">
                    <a:lnR w="7620">
                      <a:solidFill>
                        <a:srgbClr val="DBE1EB"/>
                      </a:solidFill>
                      <a:prstDash val="solid"/>
                    </a:lnR>
                    <a:lnB w="7620">
                      <a:solidFill>
                        <a:srgbClr val="DBE1EB"/>
                      </a:solidFill>
                      <a:prstDash val="solid"/>
                    </a:lnB>
                    <a:solidFill>
                      <a:srgbClr val="EDF1F7"/>
                    </a:solidFill>
                  </a:tcPr>
                </a:tc>
                <a:tc>
                  <a:txBody>
                    <a:bodyPr/>
                    <a:lstStyle/>
                    <a:p>
                      <a:r>
                        <a:rPr sz="1800" b="1">
                          <a:solidFill>
                            <a:srgbClr val="195BE4"/>
                          </a:solidFill>
                          <a:latin typeface="Arial"/>
                          <a:ea typeface="Arial"/>
                          <a:cs typeface="Arial"/>
                        </a:rPr>
                        <a:t>Adaptar</a:t>
                      </a:r>
                    </a:p>
                  </a:txBody>
                  <a:tcPr marL="91440" marR="91440" marT="45720" marB="45720">
                    <a:lnR w="7620">
                      <a:solidFill>
                        <a:srgbClr val="DBE1EB"/>
                      </a:solidFill>
                      <a:prstDash val="solid"/>
                    </a:lnR>
                    <a:lnB w="7620">
                      <a:solidFill>
                        <a:srgbClr val="DBE1EB"/>
                      </a:solidFill>
                      <a:prstDash val="solid"/>
                    </a:lnB>
                    <a:solidFill>
                      <a:srgbClr val="EDF1F7"/>
                    </a:solidFill>
                  </a:tcPr>
                </a:tc>
              </a:tr>
              <a:tr h="666750">
                <a:tc>
                  <a:txBody>
                    <a:bodyPr/>
                    <a:lstStyle/>
                    <a:p>
                      <a:r>
                        <a:rPr sz="1800" b="0">
                          <a:solidFill>
                            <a:srgbClr val="17213C"/>
                          </a:solidFill>
                          <a:latin typeface="Arial"/>
                          <a:ea typeface="Arial"/>
                          <a:cs typeface="Arial"/>
                        </a:rPr>
                        <a:t>verification-before-completion</a:t>
                      </a:r>
                    </a:p>
                  </a:txBody>
                  <a:tcPr marL="91440" marR="91440" marT="45720" marB="45720">
                    <a:lnL w="7620">
                      <a:solidFill>
                        <a:srgbClr val="DBE1EB"/>
                      </a:solidFill>
                      <a:prstDash val="solid"/>
                    </a:lnL>
                    <a:lnR w="7620">
                      <a:solidFill>
                        <a:srgbClr val="DBE1EB"/>
                      </a:solidFill>
                      <a:prstDash val="solid"/>
                    </a:lnR>
                    <a:lnB w="7620">
                      <a:solidFill>
                        <a:srgbClr val="DBE1EB"/>
                      </a:solidFill>
                      <a:prstDash val="solid"/>
                    </a:lnB>
                    <a:solidFill>
                      <a:srgbClr val="FFFFFF"/>
                    </a:solidFill>
                  </a:tcPr>
                </a:tc>
                <a:tc>
                  <a:txBody>
                    <a:bodyPr/>
                    <a:lstStyle/>
                    <a:p>
                      <a:r>
                        <a:rPr sz="1800" b="0">
                          <a:solidFill>
                            <a:srgbClr val="17213C"/>
                          </a:solidFill>
                          <a:latin typeface="Arial"/>
                          <a:ea typeface="Arial"/>
                          <a:cs typeface="Arial"/>
                        </a:rPr>
                        <a:t>Exigir evidencia antes de cerrar</a:t>
                      </a:r>
                    </a:p>
                  </a:txBody>
                  <a:tcPr marL="91440" marR="91440" marT="45720" marB="45720">
                    <a:lnR w="7620">
                      <a:solidFill>
                        <a:srgbClr val="DBE1EB"/>
                      </a:solidFill>
                      <a:prstDash val="solid"/>
                    </a:lnR>
                    <a:lnB w="7620">
                      <a:solidFill>
                        <a:srgbClr val="DBE1EB"/>
                      </a:solidFill>
                      <a:prstDash val="solid"/>
                    </a:lnB>
                    <a:solidFill>
                      <a:srgbClr val="FFFFFF"/>
                    </a:solidFill>
                  </a:tcPr>
                </a:tc>
                <a:tc>
                  <a:txBody>
                    <a:bodyPr/>
                    <a:lstStyle/>
                    <a:p>
                      <a:r>
                        <a:rPr sz="1800" b="1">
                          <a:solidFill>
                            <a:srgbClr val="195BE4"/>
                          </a:solidFill>
                          <a:latin typeface="Arial"/>
                          <a:ea typeface="Arial"/>
                          <a:cs typeface="Arial"/>
                        </a:rPr>
                        <a:t>Adoptar*</a:t>
                      </a:r>
                    </a:p>
                  </a:txBody>
                  <a:tcPr marL="91440" marR="91440" marT="45720" marB="45720">
                    <a:lnR w="7620">
                      <a:solidFill>
                        <a:srgbClr val="DBE1EB"/>
                      </a:solidFill>
                      <a:prstDash val="solid"/>
                    </a:lnR>
                    <a:lnB w="7620">
                      <a:solidFill>
                        <a:srgbClr val="DBE1EB"/>
                      </a:solidFill>
                      <a:prstDash val="solid"/>
                    </a:lnB>
                    <a:solidFill>
                      <a:srgbClr val="FFFFFF"/>
                    </a:solidFill>
                  </a:tcPr>
                </a:tc>
              </a:tr>
              <a:tr h="666750">
                <a:tc>
                  <a:txBody>
                    <a:bodyPr/>
                    <a:lstStyle/>
                    <a:p>
                      <a:r>
                        <a:rPr sz="1800" b="0">
                          <a:solidFill>
                            <a:srgbClr val="17213C"/>
                          </a:solidFill>
                          <a:latin typeface="Arial"/>
                          <a:ea typeface="Arial"/>
                          <a:cs typeface="Arial"/>
                        </a:rPr>
                        <a:t>sast-configuration</a:t>
                      </a:r>
                    </a:p>
                  </a:txBody>
                  <a:tcPr marL="91440" marR="91440" marT="45720" marB="45720">
                    <a:lnL w="7620">
                      <a:solidFill>
                        <a:srgbClr val="DBE1EB"/>
                      </a:solidFill>
                      <a:prstDash val="solid"/>
                    </a:lnL>
                    <a:lnR w="7620">
                      <a:solidFill>
                        <a:srgbClr val="DBE1EB"/>
                      </a:solidFill>
                      <a:prstDash val="solid"/>
                    </a:lnR>
                    <a:lnB w="7620">
                      <a:solidFill>
                        <a:srgbClr val="DBE1EB"/>
                      </a:solidFill>
                      <a:prstDash val="solid"/>
                    </a:lnB>
                    <a:solidFill>
                      <a:srgbClr val="EDF1F7"/>
                    </a:solidFill>
                  </a:tcPr>
                </a:tc>
                <a:tc>
                  <a:txBody>
                    <a:bodyPr/>
                    <a:lstStyle/>
                    <a:p>
                      <a:r>
                        <a:rPr sz="1800" b="0">
                          <a:solidFill>
                            <a:srgbClr val="17213C"/>
                          </a:solidFill>
                          <a:latin typeface="Arial"/>
                          <a:ea typeface="Arial"/>
                          <a:cs typeface="Arial"/>
                        </a:rPr>
                        <a:t>Configurar análisis de seguridad</a:t>
                      </a:r>
                    </a:p>
                  </a:txBody>
                  <a:tcPr marL="91440" marR="91440" marT="45720" marB="45720">
                    <a:lnR w="7620">
                      <a:solidFill>
                        <a:srgbClr val="DBE1EB"/>
                      </a:solidFill>
                      <a:prstDash val="solid"/>
                    </a:lnR>
                    <a:lnB w="7620">
                      <a:solidFill>
                        <a:srgbClr val="DBE1EB"/>
                      </a:solidFill>
                      <a:prstDash val="solid"/>
                    </a:lnB>
                    <a:solidFill>
                      <a:srgbClr val="EDF1F7"/>
                    </a:solidFill>
                  </a:tcPr>
                </a:tc>
                <a:tc>
                  <a:txBody>
                    <a:bodyPr/>
                    <a:lstStyle/>
                    <a:p>
                      <a:r>
                        <a:rPr sz="1800" b="1">
                          <a:solidFill>
                            <a:srgbClr val="195BE4"/>
                          </a:solidFill>
                          <a:latin typeface="Arial"/>
                          <a:ea typeface="Arial"/>
                          <a:cs typeface="Arial"/>
                        </a:rPr>
                        <a:t>Adaptar</a:t>
                      </a:r>
                    </a:p>
                  </a:txBody>
                  <a:tcPr marL="91440" marR="91440" marT="45720" marB="45720">
                    <a:lnR w="7620">
                      <a:solidFill>
                        <a:srgbClr val="DBE1EB"/>
                      </a:solidFill>
                      <a:prstDash val="solid"/>
                    </a:lnR>
                    <a:lnB w="7620">
                      <a:solidFill>
                        <a:srgbClr val="DBE1EB"/>
                      </a:solidFill>
                      <a:prstDash val="solid"/>
                    </a:lnB>
                    <a:solidFill>
                      <a:srgbClr val="EDF1F7"/>
                    </a:solidFill>
                  </a:tcPr>
                </a:tc>
              </a:tr>
              <a:tr h="666750">
                <a:tc>
                  <a:txBody>
                    <a:bodyPr/>
                    <a:lstStyle/>
                    <a:p>
                      <a:r>
                        <a:rPr sz="1800" b="0">
                          <a:solidFill>
                            <a:srgbClr val="17213C"/>
                          </a:solidFill>
                          <a:latin typeface="Arial"/>
                          <a:ea typeface="Arial"/>
                          <a:cs typeface="Arial"/>
                        </a:rPr>
                        <a:t>doc-coauthoring</a:t>
                      </a:r>
                    </a:p>
                  </a:txBody>
                  <a:tcPr marL="91440" marR="91440" marT="45720" marB="45720">
                    <a:lnL w="7620">
                      <a:solidFill>
                        <a:srgbClr val="DBE1EB"/>
                      </a:solidFill>
                      <a:prstDash val="solid"/>
                    </a:lnL>
                    <a:lnR w="7620">
                      <a:solidFill>
                        <a:srgbClr val="DBE1EB"/>
                      </a:solidFill>
                      <a:prstDash val="solid"/>
                    </a:lnR>
                    <a:lnB w="7620">
                      <a:solidFill>
                        <a:srgbClr val="DBE1EB"/>
                      </a:solidFill>
                      <a:prstDash val="solid"/>
                    </a:lnB>
                    <a:solidFill>
                      <a:srgbClr val="FFFFFF"/>
                    </a:solidFill>
                  </a:tcPr>
                </a:tc>
                <a:tc>
                  <a:txBody>
                    <a:bodyPr/>
                    <a:lstStyle/>
                    <a:p>
                      <a:r>
                        <a:rPr sz="1800" b="0">
                          <a:solidFill>
                            <a:srgbClr val="17213C"/>
                          </a:solidFill>
                          <a:latin typeface="Arial"/>
                          <a:ea typeface="Arial"/>
                          <a:cs typeface="Arial"/>
                        </a:rPr>
                        <a:t>Redactar y revisar documentos</a:t>
                      </a:r>
                    </a:p>
                  </a:txBody>
                  <a:tcPr marL="91440" marR="91440" marT="45720" marB="45720">
                    <a:lnR w="7620">
                      <a:solidFill>
                        <a:srgbClr val="DBE1EB"/>
                      </a:solidFill>
                      <a:prstDash val="solid"/>
                    </a:lnR>
                    <a:lnB w="7620">
                      <a:solidFill>
                        <a:srgbClr val="DBE1EB"/>
                      </a:solidFill>
                      <a:prstDash val="solid"/>
                    </a:lnB>
                    <a:solidFill>
                      <a:srgbClr val="FFFFFF"/>
                    </a:solidFill>
                  </a:tcPr>
                </a:tc>
                <a:tc>
                  <a:txBody>
                    <a:bodyPr/>
                    <a:lstStyle/>
                    <a:p>
                      <a:r>
                        <a:rPr sz="1800" b="1">
                          <a:solidFill>
                            <a:srgbClr val="195BE4"/>
                          </a:solidFill>
                          <a:latin typeface="Arial"/>
                          <a:ea typeface="Arial"/>
                          <a:cs typeface="Arial"/>
                        </a:rPr>
                        <a:t>Adaptar</a:t>
                      </a:r>
                    </a:p>
                  </a:txBody>
                  <a:tcPr marL="91440" marR="91440" marT="45720" marB="45720">
                    <a:lnR w="7620">
                      <a:solidFill>
                        <a:srgbClr val="DBE1EB"/>
                      </a:solidFill>
                      <a:prstDash val="solid"/>
                    </a:lnR>
                    <a:lnB w="7620">
                      <a:solidFill>
                        <a:srgbClr val="DBE1EB"/>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5B2E7AB5-2670-40B5-B614-60E94A326953}"/>
              </a:ext>
            </a:extLst>
          </p:cNvPr>
          <p:cNvSpPr>
            <a:spLocks xmlns:a="http://schemas.openxmlformats.org/drawingml/2006/main" noGrp="1"/>
          </p:cNvSpPr>
          <p:nvPr/>
        </p:nvSpPr>
        <p:spPr>
          <a:xfrm xmlns:a="http://schemas.openxmlformats.org/drawingml/2006/main">
            <a:off x="647700" y="5819775"/>
            <a:ext cx="10896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3617A"/>
                </a:solidFill>
                <a:latin typeface="Arial"/>
                <a:ea typeface="Arial"/>
                <a:cs typeface="Arial"/>
              </a:defRPr>
            </a:defPPr>
          </a:lstStyle>
          <a:p xmlns:a="http://schemas.openxmlformats.org/drawingml/2006/main">
            <a:pPr>
              <a:buNone/>
              <a:defRPr sz="1800" b="0">
                <a:solidFill>
                  <a:srgbClr val="53617A"/>
                </a:solidFill>
                <a:latin typeface="Arial"/>
                <a:ea typeface="Arial"/>
                <a:cs typeface="Arial"/>
              </a:defRPr>
            </a:pPr>
            <a:r>
              <a:rPr sz="1800" b="0">
                <a:solidFill>
                  <a:srgbClr val="53617A"/>
                </a:solidFill>
                <a:latin typeface="Arial"/>
                <a:ea typeface="Arial"/>
                <a:cs typeface="Arial"/>
              </a:rPr>
              <a:t>*Adopción propuesta, pendiente de piloto</a:t>
            </a:r>
          </a:p>
        </p:txBody>
      </p:sp>
    </p:spTree>
    <p:extLst>
      <p:ext uri="{BB962C8B-B14F-4D97-AF65-F5344CB8AC3E}">
        <p14:creationId xmlns:p14="http://schemas.microsoft.com/office/powerpoint/2010/main" val="287129738"/>
      </p:ext>
    </p:extLst>
  </p:cSld>
</p:sld>
</file>

<file path=ppt/slides/slide4.xml><?xml version="1.0" encoding="utf-8"?>
<p:sld xmlns:p="http://schemas.openxmlformats.org/presentationml/2006/main">
  <p:cSld>
    <p:bg>
      <p:bgPr>
        <a:solidFill xmlns:a="http://schemas.openxmlformats.org/drawingml/2006/main">
          <a:srgbClr val="F7F8F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74A5BC9-AFF6-4090-BD7F-7EB8C74684C0}"/>
              </a:ext>
            </a:extLst>
          </p:cNvPr>
          <p:cNvSpPr>
            <a:spLocks xmlns:a="http://schemas.openxmlformats.org/drawingml/2006/main" noGrp="1"/>
          </p:cNvSpPr>
          <p:nvPr/>
        </p:nvSpPr>
        <p:spPr>
          <a:xfrm xmlns:a="http://schemas.openxmlformats.org/drawingml/2006/main">
            <a:off x="647700" y="571500"/>
            <a:ext cx="10896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0C1636"/>
                </a:solidFill>
                <a:latin typeface="Arial"/>
                <a:ea typeface="Arial"/>
                <a:cs typeface="Arial"/>
              </a:defRPr>
            </a:defPPr>
          </a:lstStyle>
          <a:p xmlns:a="http://schemas.openxmlformats.org/drawingml/2006/main">
            <a:pPr>
              <a:buNone/>
              <a:defRPr sz="3300" b="1">
                <a:solidFill>
                  <a:srgbClr val="0C1636"/>
                </a:solidFill>
                <a:latin typeface="Arial"/>
                <a:ea typeface="Arial"/>
                <a:cs typeface="Arial"/>
              </a:defRPr>
            </a:pPr>
            <a:r>
              <a:rPr sz="3300" b="1">
                <a:solidFill>
                  <a:srgbClr val="0C1636"/>
                </a:solidFill>
                <a:latin typeface="Arial"/>
                <a:ea typeface="Arial"/>
                <a:cs typeface="Arial"/>
              </a:rPr>
              <a:t>Hallazgos y descartes</a:t>
            </a:r>
          </a:p>
        </p:txBody>
      </p:sp>
      <p:sp>
        <p:nvSpPr>
          <p:cNvPr id="2" name="">
            <a:extLst xmlns:a="http://schemas.openxmlformats.org/drawingml/2006/main">
              <a:ext uri="{FF2B5EF4-FFF2-40B4-BE49-F238E27FC236}">
                <a16:creationId xmlns:a16="http://schemas.microsoft.com/office/drawing/2014/main" id="{9506DAD1-8FA7-41FF-8028-681E9501EA0C}"/>
              </a:ext>
            </a:extLst>
          </p:cNvPr>
          <p:cNvSpPr>
            <a:spLocks xmlns:a="http://schemas.openxmlformats.org/drawingml/2006/main" noGrp="1"/>
          </p:cNvSpPr>
          <p:nvPr/>
        </p:nvSpPr>
        <p:spPr>
          <a:xfrm xmlns:a="http://schemas.openxmlformats.org/drawingml/2006/main">
            <a:off x="647700" y="6343650"/>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3617A"/>
                </a:solidFill>
                <a:latin typeface="Arial"/>
                <a:ea typeface="Arial"/>
                <a:cs typeface="Arial"/>
              </a:defRPr>
            </a:defPPr>
          </a:lstStyle>
          <a:p xmlns:a="http://schemas.openxmlformats.org/drawingml/2006/main">
            <a:pPr>
              <a:buNone/>
              <a:defRPr sz="1500" b="0">
                <a:solidFill>
                  <a:srgbClr val="53617A"/>
                </a:solidFill>
                <a:latin typeface="Arial"/>
                <a:ea typeface="Arial"/>
                <a:cs typeface="Arial"/>
              </a:defRPr>
            </a:pPr>
            <a:r>
              <a:rPr sz="1500" b="0">
                <a:solidFill>
                  <a:srgbClr val="53617A"/>
                </a:solidFill>
                <a:latin typeface="Arial"/>
                <a:ea typeface="Arial"/>
                <a:cs typeface="Arial"/>
              </a:rPr>
              <a:t>4 / 7     02:10–02:50</a:t>
            </a:r>
          </a:p>
        </p:txBody>
      </p:sp>
      <p:sp>
        <p:nvSpPr>
          <p:cNvPr id="3" name="">
            <a:extLst xmlns:a="http://schemas.openxmlformats.org/drawingml/2006/main">
              <a:ext uri="{FF2B5EF4-FFF2-40B4-BE49-F238E27FC236}">
                <a16:creationId xmlns:a16="http://schemas.microsoft.com/office/drawing/2014/main" id="{DFE4A675-1419-4CF7-861B-5D00F69ACA4B}"/>
              </a:ext>
            </a:extLst>
          </p:cNvPr>
          <p:cNvSpPr>
            <a:spLocks xmlns:a="http://schemas.openxmlformats.org/drawingml/2006/main" noGrp="1"/>
          </p:cNvSpPr>
          <p:nvPr/>
        </p:nvSpPr>
        <p:spPr>
          <a:xfrm xmlns:a="http://schemas.openxmlformats.org/drawingml/2006/main">
            <a:off x="647700" y="1714500"/>
            <a:ext cx="3381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195BE4"/>
                </a:solidFill>
                <a:latin typeface="Arial"/>
                <a:ea typeface="Arial"/>
                <a:cs typeface="Arial"/>
              </a:defRPr>
            </a:defPPr>
          </a:lstStyle>
          <a:p xmlns:a="http://schemas.openxmlformats.org/drawingml/2006/main">
            <a:pPr>
              <a:buNone/>
              <a:defRPr sz="2100" b="1">
                <a:solidFill>
                  <a:srgbClr val="195BE4"/>
                </a:solidFill>
                <a:latin typeface="Arial"/>
                <a:ea typeface="Arial"/>
                <a:cs typeface="Arial"/>
              </a:defRPr>
            </a:pPr>
            <a:r>
              <a:rPr sz="2100" b="1">
                <a:solidFill>
                  <a:srgbClr val="195BE4"/>
                </a:solidFill>
                <a:latin typeface="Arial"/>
                <a:ea typeface="Arial"/>
                <a:cs typeface="Arial"/>
              </a:rPr>
              <a:t>Plantilla FastAPI completa</a:t>
            </a:r>
          </a:p>
        </p:txBody>
      </p:sp>
      <p:sp>
        <p:nvSpPr>
          <p:cNvPr id="4" name="">
            <a:extLst xmlns:a="http://schemas.openxmlformats.org/drawingml/2006/main">
              <a:ext uri="{FF2B5EF4-FFF2-40B4-BE49-F238E27FC236}">
                <a16:creationId xmlns:a16="http://schemas.microsoft.com/office/drawing/2014/main" id="{3CD648C6-AB76-4CE2-B835-5BFC99150457}"/>
              </a:ext>
            </a:extLst>
          </p:cNvPr>
          <p:cNvSpPr>
            <a:spLocks xmlns:a="http://schemas.openxmlformats.org/drawingml/2006/main" noGrp="1"/>
          </p:cNvSpPr>
          <p:nvPr/>
        </p:nvSpPr>
        <p:spPr>
          <a:xfrm xmlns:a="http://schemas.openxmlformats.org/drawingml/2006/main">
            <a:off x="4286250" y="1714500"/>
            <a:ext cx="7191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7213C"/>
                </a:solidFill>
                <a:latin typeface="Arial"/>
                <a:ea typeface="Arial"/>
                <a:cs typeface="Arial"/>
              </a:defRPr>
            </a:defPPr>
          </a:lstStyle>
          <a:p xmlns:a="http://schemas.openxmlformats.org/drawingml/2006/main">
            <a:pPr>
              <a:buNone/>
              <a:defRPr sz="2100" b="0">
                <a:solidFill>
                  <a:srgbClr val="17213C"/>
                </a:solidFill>
                <a:latin typeface="Arial"/>
                <a:ea typeface="Arial"/>
                <a:cs typeface="Arial"/>
              </a:defRPr>
            </a:pPr>
            <a:r>
              <a:rPr sz="2100" b="0">
                <a:solidFill>
                  <a:srgbClr val="17213C"/>
                </a:solidFill>
                <a:latin typeface="Arial"/>
                <a:ea typeface="Arial"/>
                <a:cs typeface="Arial"/>
              </a:rPr>
              <a:t>Descartamos añadir autenticación y base de datos en este slice.</a:t>
            </a:r>
          </a:p>
        </p:txBody>
      </p:sp>
      <p:sp>
        <p:nvSpPr>
          <p:cNvPr id="5" name="">
            <a:extLst xmlns:a="http://schemas.openxmlformats.org/drawingml/2006/main">
              <a:ext uri="{FF2B5EF4-FFF2-40B4-BE49-F238E27FC236}">
                <a16:creationId xmlns:a16="http://schemas.microsoft.com/office/drawing/2014/main" id="{6259E881-43EF-4088-A865-4359B14329BE}"/>
              </a:ext>
            </a:extLst>
          </p:cNvPr>
          <p:cNvSpPr>
            <a:spLocks xmlns:a="http://schemas.openxmlformats.org/drawingml/2006/main" noGrp="1"/>
          </p:cNvSpPr>
          <p:nvPr/>
        </p:nvSpPr>
        <p:spPr>
          <a:xfrm xmlns:a="http://schemas.openxmlformats.org/drawingml/2006/main">
            <a:off x="647700" y="2733675"/>
            <a:ext cx="3381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195BE4"/>
                </a:solidFill>
                <a:latin typeface="Arial"/>
                <a:ea typeface="Arial"/>
                <a:cs typeface="Arial"/>
              </a:defRPr>
            </a:defPPr>
          </a:lstStyle>
          <a:p xmlns:a="http://schemas.openxmlformats.org/drawingml/2006/main">
            <a:pPr>
              <a:buNone/>
              <a:defRPr sz="2100" b="1">
                <a:solidFill>
                  <a:srgbClr val="195BE4"/>
                </a:solidFill>
                <a:latin typeface="Arial"/>
                <a:ea typeface="Arial"/>
                <a:cs typeface="Arial"/>
              </a:defRPr>
            </a:pPr>
            <a:r>
              <a:rPr sz="2100" b="1">
                <a:solidFill>
                  <a:srgbClr val="195BE4"/>
                </a:solidFill>
                <a:latin typeface="Arial"/>
                <a:ea typeface="Arial"/>
                <a:cs typeface="Arial"/>
              </a:rPr>
              <a:t>Ejemplos de pruebas</a:t>
            </a:r>
          </a:p>
        </p:txBody>
      </p:sp>
      <p:sp>
        <p:nvSpPr>
          <p:cNvPr id="6" name="">
            <a:extLst xmlns:a="http://schemas.openxmlformats.org/drawingml/2006/main">
              <a:ext uri="{FF2B5EF4-FFF2-40B4-BE49-F238E27FC236}">
                <a16:creationId xmlns:a16="http://schemas.microsoft.com/office/drawing/2014/main" id="{788168DC-D31B-42EC-B564-33346A40CB3D}"/>
              </a:ext>
            </a:extLst>
          </p:cNvPr>
          <p:cNvSpPr>
            <a:spLocks xmlns:a="http://schemas.openxmlformats.org/drawingml/2006/main" noGrp="1"/>
          </p:cNvSpPr>
          <p:nvPr/>
        </p:nvSpPr>
        <p:spPr>
          <a:xfrm xmlns:a="http://schemas.openxmlformats.org/drawingml/2006/main">
            <a:off x="4286250" y="2733675"/>
            <a:ext cx="7191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7213C"/>
                </a:solidFill>
                <a:latin typeface="Arial"/>
                <a:ea typeface="Arial"/>
                <a:cs typeface="Arial"/>
              </a:defRPr>
            </a:defPPr>
          </a:lstStyle>
          <a:p xmlns:a="http://schemas.openxmlformats.org/drawingml/2006/main">
            <a:pPr>
              <a:buNone/>
              <a:defRPr sz="2100" b="0">
                <a:solidFill>
                  <a:srgbClr val="17213C"/>
                </a:solidFill>
                <a:latin typeface="Arial"/>
                <a:ea typeface="Arial"/>
                <a:cs typeface="Arial"/>
              </a:defRPr>
            </a:pPr>
            <a:r>
              <a:rPr sz="2100" b="0">
                <a:solidFill>
                  <a:srgbClr val="17213C"/>
                </a:solidFill>
                <a:latin typeface="Arial"/>
                <a:ea typeface="Arial"/>
                <a:cs typeface="Arial"/>
              </a:rPr>
              <a:t>La adaptación debe conservar unittest, que ya usa el proyecto.</a:t>
            </a:r>
          </a:p>
        </p:txBody>
      </p:sp>
      <p:sp>
        <p:nvSpPr>
          <p:cNvPr id="7" name="">
            <a:extLst xmlns:a="http://schemas.openxmlformats.org/drawingml/2006/main">
              <a:ext uri="{FF2B5EF4-FFF2-40B4-BE49-F238E27FC236}">
                <a16:creationId xmlns:a16="http://schemas.microsoft.com/office/drawing/2014/main" id="{82DEABF2-0AB4-483B-974E-863949EBCA25}"/>
              </a:ext>
            </a:extLst>
          </p:cNvPr>
          <p:cNvSpPr>
            <a:spLocks xmlns:a="http://schemas.openxmlformats.org/drawingml/2006/main" noGrp="1"/>
          </p:cNvSpPr>
          <p:nvPr/>
        </p:nvSpPr>
        <p:spPr>
          <a:xfrm xmlns:a="http://schemas.openxmlformats.org/drawingml/2006/main">
            <a:off x="647700" y="3752850"/>
            <a:ext cx="3381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195BE4"/>
                </a:solidFill>
                <a:latin typeface="Arial"/>
                <a:ea typeface="Arial"/>
                <a:cs typeface="Arial"/>
              </a:defRPr>
            </a:defPPr>
          </a:lstStyle>
          <a:p xmlns:a="http://schemas.openxmlformats.org/drawingml/2006/main">
            <a:pPr>
              <a:buNone/>
              <a:defRPr sz="2100" b="1">
                <a:solidFill>
                  <a:srgbClr val="195BE4"/>
                </a:solidFill>
                <a:latin typeface="Arial"/>
                <a:ea typeface="Arial"/>
                <a:cs typeface="Arial"/>
              </a:defRPr>
            </a:pPr>
            <a:r>
              <a:rPr sz="2100" b="1">
                <a:solidFill>
                  <a:srgbClr val="195BE4"/>
                </a:solidFill>
                <a:latin typeface="Arial"/>
                <a:ea typeface="Arial"/>
                <a:cs typeface="Arial"/>
              </a:rPr>
              <a:t>Revisión con subagentes</a:t>
            </a:r>
          </a:p>
        </p:txBody>
      </p:sp>
      <p:sp>
        <p:nvSpPr>
          <p:cNvPr id="8" name="">
            <a:extLst xmlns:a="http://schemas.openxmlformats.org/drawingml/2006/main">
              <a:ext uri="{FF2B5EF4-FFF2-40B4-BE49-F238E27FC236}">
                <a16:creationId xmlns:a16="http://schemas.microsoft.com/office/drawing/2014/main" id="{3EF9D3D3-333D-4227-9616-ADAC8D2B368F}"/>
              </a:ext>
            </a:extLst>
          </p:cNvPr>
          <p:cNvSpPr>
            <a:spLocks xmlns:a="http://schemas.openxmlformats.org/drawingml/2006/main" noGrp="1"/>
          </p:cNvSpPr>
          <p:nvPr/>
        </p:nvSpPr>
        <p:spPr>
          <a:xfrm xmlns:a="http://schemas.openxmlformats.org/drawingml/2006/main">
            <a:off x="4286250" y="3752850"/>
            <a:ext cx="7191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7213C"/>
                </a:solidFill>
                <a:latin typeface="Arial"/>
                <a:ea typeface="Arial"/>
                <a:cs typeface="Arial"/>
              </a:defRPr>
            </a:defPPr>
          </a:lstStyle>
          <a:p xmlns:a="http://schemas.openxmlformats.org/drawingml/2006/main">
            <a:pPr>
              <a:buNone/>
              <a:defRPr sz="2100" b="0">
                <a:solidFill>
                  <a:srgbClr val="17213C"/>
                </a:solidFill>
                <a:latin typeface="Arial"/>
                <a:ea typeface="Arial"/>
                <a:cs typeface="Arial"/>
              </a:defRPr>
            </a:pPr>
            <a:r>
              <a:rPr sz="2100" b="0">
                <a:solidFill>
                  <a:srgbClr val="17213C"/>
                </a:solidFill>
                <a:latin typeface="Arial"/>
                <a:ea typeface="Arial"/>
                <a:cs typeface="Arial"/>
              </a:rPr>
              <a:t>Requiere ajustarse al método de revisión acordado por el equipo.</a:t>
            </a:r>
          </a:p>
        </p:txBody>
      </p:sp>
      <p:sp>
        <p:nvSpPr>
          <p:cNvPr id="9" name="">
            <a:extLst xmlns:a="http://schemas.openxmlformats.org/drawingml/2006/main">
              <a:ext uri="{FF2B5EF4-FFF2-40B4-BE49-F238E27FC236}">
                <a16:creationId xmlns:a16="http://schemas.microsoft.com/office/drawing/2014/main" id="{8195DF70-47B2-4EB1-A812-496A0A4A8C05}"/>
              </a:ext>
            </a:extLst>
          </p:cNvPr>
          <p:cNvSpPr>
            <a:spLocks xmlns:a="http://schemas.openxmlformats.org/drawingml/2006/main" noGrp="1"/>
          </p:cNvSpPr>
          <p:nvPr/>
        </p:nvSpPr>
        <p:spPr>
          <a:xfrm xmlns:a="http://schemas.openxmlformats.org/drawingml/2006/main">
            <a:off x="647700" y="4772025"/>
            <a:ext cx="3381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195BE4"/>
                </a:solidFill>
                <a:latin typeface="Arial"/>
                <a:ea typeface="Arial"/>
                <a:cs typeface="Arial"/>
              </a:defRPr>
            </a:defPPr>
          </a:lstStyle>
          <a:p xmlns:a="http://schemas.openxmlformats.org/drawingml/2006/main">
            <a:pPr>
              <a:buNone/>
              <a:defRPr sz="2100" b="1">
                <a:solidFill>
                  <a:srgbClr val="195BE4"/>
                </a:solidFill>
                <a:latin typeface="Arial"/>
                <a:ea typeface="Arial"/>
                <a:cs typeface="Arial"/>
              </a:defRPr>
            </a:pPr>
            <a:r>
              <a:rPr sz="2100" b="1">
                <a:solidFill>
                  <a:srgbClr val="195BE4"/>
                </a:solidFill>
                <a:latin typeface="Arial"/>
                <a:ea typeface="Arial"/>
                <a:cs typeface="Arial"/>
              </a:rPr>
              <a:t>SAST sin adaptación</a:t>
            </a:r>
          </a:p>
        </p:txBody>
      </p:sp>
      <p:sp>
        <p:nvSpPr>
          <p:cNvPr id="10" name="">
            <a:extLst xmlns:a="http://schemas.openxmlformats.org/drawingml/2006/main">
              <a:ext uri="{FF2B5EF4-FFF2-40B4-BE49-F238E27FC236}">
                <a16:creationId xmlns:a16="http://schemas.microsoft.com/office/drawing/2014/main" id="{65112683-2D74-40D8-831C-04C4B41E3476}"/>
              </a:ext>
            </a:extLst>
          </p:cNvPr>
          <p:cNvSpPr>
            <a:spLocks xmlns:a="http://schemas.openxmlformats.org/drawingml/2006/main" noGrp="1"/>
          </p:cNvSpPr>
          <p:nvPr/>
        </p:nvSpPr>
        <p:spPr>
          <a:xfrm xmlns:a="http://schemas.openxmlformats.org/drawingml/2006/main">
            <a:off x="4286250" y="4772025"/>
            <a:ext cx="7191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7213C"/>
                </a:solidFill>
                <a:latin typeface="Arial"/>
                <a:ea typeface="Arial"/>
                <a:cs typeface="Arial"/>
              </a:defRPr>
            </a:defPPr>
          </a:lstStyle>
          <a:p xmlns:a="http://schemas.openxmlformats.org/drawingml/2006/main">
            <a:pPr>
              <a:buNone/>
              <a:defRPr sz="2100" b="0">
                <a:solidFill>
                  <a:srgbClr val="17213C"/>
                </a:solidFill>
                <a:latin typeface="Arial"/>
                <a:ea typeface="Arial"/>
                <a:cs typeface="Arial"/>
              </a:defRPr>
            </a:pPr>
            <a:r>
              <a:rPr sz="2100" b="0">
                <a:solidFill>
                  <a:srgbClr val="17213C"/>
                </a:solidFill>
                <a:latin typeface="Arial"/>
                <a:ea typeface="Arial"/>
                <a:cs typeface="Arial"/>
              </a:rPr>
              <a:t>Descartamos ejecutar comandos y scripts sin comprobarlos.</a:t>
            </a:r>
          </a:p>
        </p:txBody>
      </p:sp>
    </p:spTree>
    <p:extLst>
      <p:ext uri="{BB962C8B-B14F-4D97-AF65-F5344CB8AC3E}">
        <p14:creationId xmlns:p14="http://schemas.microsoft.com/office/powerpoint/2010/main" val="1171296859"/>
      </p:ext>
    </p:extLst>
  </p:cSld>
</p:sld>
</file>

<file path=ppt/slides/slide5.xml><?xml version="1.0" encoding="utf-8"?>
<p:sld xmlns:p="http://schemas.openxmlformats.org/presentationml/2006/main">
  <p:cSld>
    <p:bg>
      <p:bgPr>
        <a:solidFill xmlns:a="http://schemas.openxmlformats.org/drawingml/2006/main">
          <a:srgbClr val="F7F8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8CEB6F9-B682-4A8A-B69C-00C132223417}"/>
              </a:ext>
            </a:extLst>
          </p:cNvPr>
          <p:cNvSpPr>
            <a:spLocks xmlns:a="http://schemas.openxmlformats.org/drawingml/2006/main" noGrp="1"/>
          </p:cNvSpPr>
          <p:nvPr/>
        </p:nvSpPr>
        <p:spPr>
          <a:xfrm xmlns:a="http://schemas.openxmlformats.org/drawingml/2006/main">
            <a:off x="647700" y="571500"/>
            <a:ext cx="10896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0C1636"/>
                </a:solidFill>
                <a:latin typeface="Arial"/>
                <a:ea typeface="Arial"/>
                <a:cs typeface="Arial"/>
              </a:defRPr>
            </a:defPPr>
          </a:lstStyle>
          <a:p xmlns:a="http://schemas.openxmlformats.org/drawingml/2006/main">
            <a:pPr>
              <a:buNone/>
              <a:defRPr sz="3300" b="1">
                <a:solidFill>
                  <a:srgbClr val="0C1636"/>
                </a:solidFill>
                <a:latin typeface="Arial"/>
                <a:ea typeface="Arial"/>
                <a:cs typeface="Arial"/>
              </a:defRPr>
            </a:pPr>
            <a:r>
              <a:rPr sz="3300" b="1">
                <a:solidFill>
                  <a:srgbClr val="0C1636"/>
                </a:solidFill>
                <a:latin typeface="Arial"/>
                <a:ea typeface="Arial"/>
                <a:cs typeface="Arial"/>
              </a:rPr>
              <a:t>Skill propia propuesta: buildtrack-slice</a:t>
            </a:r>
          </a:p>
        </p:txBody>
      </p:sp>
      <p:sp>
        <p:nvSpPr>
          <p:cNvPr id="2" name="">
            <a:extLst xmlns:a="http://schemas.openxmlformats.org/drawingml/2006/main">
              <a:ext uri="{FF2B5EF4-FFF2-40B4-BE49-F238E27FC236}">
                <a16:creationId xmlns:a16="http://schemas.microsoft.com/office/drawing/2014/main" id="{2A6DA430-15D4-41D2-BF16-445928B2D5BA}"/>
              </a:ext>
            </a:extLst>
          </p:cNvPr>
          <p:cNvSpPr>
            <a:spLocks xmlns:a="http://schemas.openxmlformats.org/drawingml/2006/main" noGrp="1"/>
          </p:cNvSpPr>
          <p:nvPr/>
        </p:nvSpPr>
        <p:spPr>
          <a:xfrm xmlns:a="http://schemas.openxmlformats.org/drawingml/2006/main">
            <a:off x="647700" y="6343650"/>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3617A"/>
                </a:solidFill>
                <a:latin typeface="Arial"/>
                <a:ea typeface="Arial"/>
                <a:cs typeface="Arial"/>
              </a:defRPr>
            </a:defPPr>
          </a:lstStyle>
          <a:p xmlns:a="http://schemas.openxmlformats.org/drawingml/2006/main">
            <a:pPr>
              <a:buNone/>
              <a:defRPr sz="1500" b="0">
                <a:solidFill>
                  <a:srgbClr val="53617A"/>
                </a:solidFill>
                <a:latin typeface="Arial"/>
                <a:ea typeface="Arial"/>
                <a:cs typeface="Arial"/>
              </a:defRPr>
            </a:pPr>
            <a:r>
              <a:rPr sz="1500" b="0">
                <a:solidFill>
                  <a:srgbClr val="53617A"/>
                </a:solidFill>
                <a:latin typeface="Arial"/>
                <a:ea typeface="Arial"/>
                <a:cs typeface="Arial"/>
              </a:rPr>
              <a:t>5 / 7     02:50–03:10</a:t>
            </a:r>
          </a:p>
        </p:txBody>
      </p:sp>
      <p:sp>
        <p:nvSpPr>
          <p:cNvPr id="3" name="">
            <a:extLst xmlns:a="http://schemas.openxmlformats.org/drawingml/2006/main">
              <a:ext uri="{FF2B5EF4-FFF2-40B4-BE49-F238E27FC236}">
                <a16:creationId xmlns:a16="http://schemas.microsoft.com/office/drawing/2014/main" id="{94967695-3E48-4EB9-8AB8-05159B6F4570}"/>
              </a:ext>
            </a:extLst>
          </p:cNvPr>
          <p:cNvSpPr>
            <a:spLocks xmlns:a="http://schemas.openxmlformats.org/drawingml/2006/main" noGrp="1"/>
          </p:cNvSpPr>
          <p:nvPr/>
        </p:nvSpPr>
        <p:spPr>
          <a:xfrm xmlns:a="http://schemas.openxmlformats.org/drawingml/2006/main">
            <a:off x="647700" y="1704975"/>
            <a:ext cx="10896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195BE4"/>
                </a:solidFill>
                <a:latin typeface="Arial"/>
                <a:ea typeface="Arial"/>
                <a:cs typeface="Arial"/>
              </a:defRPr>
            </a:defPPr>
          </a:lstStyle>
          <a:p xmlns:a="http://schemas.openxmlformats.org/drawingml/2006/main">
            <a:pPr>
              <a:buNone/>
              <a:defRPr sz="2550" b="1">
                <a:solidFill>
                  <a:srgbClr val="195BE4"/>
                </a:solidFill>
                <a:latin typeface="Arial"/>
                <a:ea typeface="Arial"/>
                <a:cs typeface="Arial"/>
              </a:defRPr>
            </a:pPr>
            <a:r>
              <a:rPr sz="2550" b="1">
                <a:solidFill>
                  <a:srgbClr val="195BE4"/>
                </a:solidFill>
                <a:latin typeface="Arial"/>
                <a:ea typeface="Arial"/>
                <a:cs typeface="Arial"/>
              </a:rPr>
              <a:t>Una guía para extender la API con sus convenciones</a:t>
            </a:r>
          </a:p>
        </p:txBody>
      </p:sp>
      <p:sp>
        <p:nvSpPr>
          <p:cNvPr id="4" name="">
            <a:extLst xmlns:a="http://schemas.openxmlformats.org/drawingml/2006/main">
              <a:ext uri="{FF2B5EF4-FFF2-40B4-BE49-F238E27FC236}">
                <a16:creationId xmlns:a16="http://schemas.microsoft.com/office/drawing/2014/main" id="{C0EDB108-D49E-4837-9757-83F4D4845156}"/>
              </a:ext>
            </a:extLst>
          </p:cNvPr>
          <p:cNvSpPr>
            <a:spLocks xmlns:a="http://schemas.openxmlformats.org/drawingml/2006/main" noGrp="1"/>
          </p:cNvSpPr>
          <p:nvPr/>
        </p:nvSpPr>
        <p:spPr>
          <a:xfrm xmlns:a="http://schemas.openxmlformats.org/drawingml/2006/main">
            <a:off x="647700" y="2676525"/>
            <a:ext cx="108966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0">
                <a:solidFill>
                  <a:srgbClr val="17213C"/>
                </a:solidFill>
                <a:latin typeface="Arial"/>
                <a:ea typeface="Arial"/>
                <a:cs typeface="Arial"/>
              </a:defRPr>
            </a:defPPr>
          </a:lstStyle>
          <a:p xmlns:a="http://schemas.openxmlformats.org/drawingml/2006/main">
            <a:pPr>
              <a:buNone/>
              <a:defRPr sz="2400" b="0">
                <a:solidFill>
                  <a:srgbClr val="17213C"/>
                </a:solidFill>
                <a:latin typeface="Arial"/>
                <a:ea typeface="Arial"/>
                <a:cs typeface="Arial"/>
              </a:defRPr>
            </a:pPr>
            <a:r>
              <a:rPr sz="2400" b="0">
                <a:solidFill>
                  <a:srgbClr val="17213C"/>
                </a:solidFill>
                <a:latin typeface="Arial"/>
                <a:ea typeface="Arial"/>
                <a:cs typeface="Arial"/>
              </a:rPr>
              <a:t>Rutas delgadas y reglas en el servicio</a:t>
            </a:r>
          </a:p>
          <a:p xmlns:a="http://schemas.openxmlformats.org/drawingml/2006/main">
            <a:pPr>
              <a:buNone/>
              <a:defRPr sz="2400" b="0">
                <a:solidFill>
                  <a:srgbClr val="17213C"/>
                </a:solidFill>
                <a:latin typeface="Arial"/>
                <a:ea typeface="Arial"/>
                <a:cs typeface="Arial"/>
              </a:defRPr>
            </a:pPr>
            <a:r>
              <a:rPr sz="2400" b="0">
                <a:solidFill>
                  <a:srgbClr val="17213C"/>
                </a:solidFill>
                <a:latin typeface="Arial"/>
                <a:ea typeface="Arial"/>
                <a:cs typeface="Arial"/>
              </a:rPr>
              <a:t>Validación antes de modificar datos</a:t>
            </a:r>
          </a:p>
          <a:p xmlns:a="http://schemas.openxmlformats.org/drawingml/2006/main">
            <a:pPr>
              <a:buNone/>
              <a:defRPr sz="2400" b="0">
                <a:solidFill>
                  <a:srgbClr val="17213C"/>
                </a:solidFill>
                <a:latin typeface="Arial"/>
                <a:ea typeface="Arial"/>
                <a:cs typeface="Arial"/>
              </a:defRPr>
            </a:pPr>
            <a:r>
              <a:rPr sz="2400" b="0">
                <a:solidFill>
                  <a:srgbClr val="17213C"/>
                </a:solidFill>
                <a:latin typeface="Arial"/>
                <a:ea typeface="Arial"/>
                <a:cs typeface="Arial"/>
              </a:rPr>
              <a:t>Pruebas reproducibles con unittest</a:t>
            </a:r>
          </a:p>
        </p:txBody>
      </p:sp>
      <p:sp>
        <p:nvSpPr>
          <p:cNvPr id="5" name="">
            <a:extLst xmlns:a="http://schemas.openxmlformats.org/drawingml/2006/main">
              <a:ext uri="{FF2B5EF4-FFF2-40B4-BE49-F238E27FC236}">
                <a16:creationId xmlns:a16="http://schemas.microsoft.com/office/drawing/2014/main" id="{49A523B4-3424-43E6-B075-7BC925DD32F6}"/>
              </a:ext>
            </a:extLst>
          </p:cNvPr>
          <p:cNvSpPr>
            <a:spLocks xmlns:a="http://schemas.openxmlformats.org/drawingml/2006/main" noGrp="1"/>
          </p:cNvSpPr>
          <p:nvPr/>
        </p:nvSpPr>
        <p:spPr>
          <a:xfrm xmlns:a="http://schemas.openxmlformats.org/drawingml/2006/main">
            <a:off x="647700" y="4629150"/>
            <a:ext cx="10896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C1636"/>
                </a:solidFill>
                <a:latin typeface="Arial"/>
                <a:ea typeface="Arial"/>
                <a:cs typeface="Arial"/>
              </a:defRPr>
            </a:defPPr>
          </a:lstStyle>
          <a:p xmlns:a="http://schemas.openxmlformats.org/drawingml/2006/main">
            <a:pPr>
              <a:buNone/>
              <a:defRPr sz="2025" b="1">
                <a:solidFill>
                  <a:srgbClr val="0C1636"/>
                </a:solidFill>
                <a:latin typeface="Arial"/>
                <a:ea typeface="Arial"/>
                <a:cs typeface="Arial"/>
              </a:defRPr>
            </a:pPr>
            <a:r>
              <a:rPr sz="2025" b="1">
                <a:solidFill>
                  <a:srgbClr val="0C1636"/>
                </a:solidFill>
                <a:latin typeface="Arial"/>
                <a:ea typeface="Arial"/>
                <a:cs typeface="Arial"/>
              </a:rPr>
              <a:t>.claude/skills/buildtrack-slice/SKILL.md</a:t>
            </a:r>
          </a:p>
        </p:txBody>
      </p:sp>
      <p:sp>
        <p:nvSpPr>
          <p:cNvPr id="6" name="">
            <a:extLst xmlns:a="http://schemas.openxmlformats.org/drawingml/2006/main">
              <a:ext uri="{FF2B5EF4-FFF2-40B4-BE49-F238E27FC236}">
                <a16:creationId xmlns:a16="http://schemas.microsoft.com/office/drawing/2014/main" id="{9147BB5A-ABF1-4C76-BD4F-53D599C99274}"/>
              </a:ext>
            </a:extLst>
          </p:cNvPr>
          <p:cNvSpPr>
            <a:spLocks xmlns:a="http://schemas.openxmlformats.org/drawingml/2006/main" noGrp="1"/>
          </p:cNvSpPr>
          <p:nvPr/>
        </p:nvSpPr>
        <p:spPr>
          <a:xfrm xmlns:a="http://schemas.openxmlformats.org/drawingml/2006/main">
            <a:off x="647700" y="5219700"/>
            <a:ext cx="10896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95BE4"/>
                </a:solidFill>
                <a:latin typeface="Arial"/>
                <a:ea typeface="Arial"/>
                <a:cs typeface="Arial"/>
              </a:defRPr>
            </a:defPPr>
          </a:lstStyle>
          <a:p xmlns:a="http://schemas.openxmlformats.org/drawingml/2006/main">
            <a:pPr>
              <a:buNone/>
              <a:defRPr sz="1875" b="0">
                <a:solidFill>
                  <a:srgbClr val="195BE4"/>
                </a:solidFill>
                <a:latin typeface="Arial"/>
                <a:ea typeface="Arial"/>
                <a:cs typeface="Arial"/>
              </a:defRPr>
            </a:pPr>
            <a:r>
              <a:rPr sz="1875" b="0">
                <a:solidFill>
                  <a:srgbClr val="195BE4"/>
                </a:solidFill>
                <a:latin typeface="Arial"/>
                <a:ea typeface="Arial"/>
                <a:cs typeface="Arial"/>
              </a:rPr>
              <a:t>Para descubrirla en Codex: también en .agents/skills/</a:t>
            </a:r>
          </a:p>
        </p:txBody>
      </p:sp>
      <p:sp>
        <p:nvSpPr>
          <p:cNvPr id="7" name="">
            <a:extLst xmlns:a="http://schemas.openxmlformats.org/drawingml/2006/main">
              <a:ext uri="{FF2B5EF4-FFF2-40B4-BE49-F238E27FC236}">
                <a16:creationId xmlns:a16="http://schemas.microsoft.com/office/drawing/2014/main" id="{F0D17663-2C04-4992-A5B2-DD8A06A21DFC}"/>
              </a:ext>
            </a:extLst>
          </p:cNvPr>
          <p:cNvSpPr>
            <a:spLocks xmlns:a="http://schemas.openxmlformats.org/drawingml/2006/main" noGrp="1"/>
          </p:cNvSpPr>
          <p:nvPr/>
        </p:nvSpPr>
        <p:spPr>
          <a:xfrm xmlns:a="http://schemas.openxmlformats.org/drawingml/2006/main">
            <a:off x="647700" y="5791200"/>
            <a:ext cx="10896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3617A"/>
                </a:solidFill>
                <a:latin typeface="Arial"/>
                <a:ea typeface="Arial"/>
                <a:cs typeface="Arial"/>
              </a:defRPr>
            </a:defPPr>
          </a:lstStyle>
          <a:p xmlns:a="http://schemas.openxmlformats.org/drawingml/2006/main">
            <a:pPr>
              <a:buNone/>
              <a:defRPr sz="1875" b="0">
                <a:solidFill>
                  <a:srgbClr val="53617A"/>
                </a:solidFill>
                <a:latin typeface="Arial"/>
                <a:ea typeface="Arial"/>
                <a:cs typeface="Arial"/>
              </a:defRPr>
            </a:pPr>
            <a:r>
              <a:rPr sz="1875" b="0">
                <a:solidFill>
                  <a:srgbClr val="53617A"/>
                </a:solidFill>
                <a:latin typeface="Arial"/>
                <a:ea typeface="Arial"/>
                <a:cs typeface="Arial"/>
              </a:rPr>
              <a:t>Estado: pendiente de creación y prueba piloto</a:t>
            </a:r>
          </a:p>
        </p:txBody>
      </p:sp>
    </p:spTree>
    <p:extLst>
      <p:ext uri="{BB962C8B-B14F-4D97-AF65-F5344CB8AC3E}">
        <p14:creationId xmlns:p14="http://schemas.microsoft.com/office/powerpoint/2010/main" val="661628390"/>
      </p:ext>
    </p:extLst>
  </p:cSld>
</p:sld>
</file>

<file path=ppt/slides/slide6.xml><?xml version="1.0" encoding="utf-8"?>
<p:sld xmlns:p="http://schemas.openxmlformats.org/presentationml/2006/main">
  <p:cSld>
    <p:bg>
      <p:bgPr>
        <a:solidFill xmlns:a="http://schemas.openxmlformats.org/drawingml/2006/main">
          <a:srgbClr val="F7F8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E4AC448-4646-4235-B87D-5A5A98D5C04A}"/>
              </a:ext>
            </a:extLst>
          </p:cNvPr>
          <p:cNvSpPr>
            <a:spLocks xmlns:a="http://schemas.openxmlformats.org/drawingml/2006/main" noGrp="1"/>
          </p:cNvSpPr>
          <p:nvPr/>
        </p:nvSpPr>
        <p:spPr>
          <a:xfrm xmlns:a="http://schemas.openxmlformats.org/drawingml/2006/main">
            <a:off x="647700" y="571500"/>
            <a:ext cx="10896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0C1636"/>
                </a:solidFill>
                <a:latin typeface="Arial"/>
                <a:ea typeface="Arial"/>
                <a:cs typeface="Arial"/>
              </a:defRPr>
            </a:defPPr>
          </a:lstStyle>
          <a:p xmlns:a="http://schemas.openxmlformats.org/drawingml/2006/main">
            <a:pPr>
              <a:buNone/>
              <a:defRPr sz="3300" b="1">
                <a:solidFill>
                  <a:srgbClr val="0C1636"/>
                </a:solidFill>
                <a:latin typeface="Arial"/>
                <a:ea typeface="Arial"/>
                <a:cs typeface="Arial"/>
              </a:defRPr>
            </a:pPr>
            <a:r>
              <a:rPr sz="3300" b="1">
                <a:solidFill>
                  <a:srgbClr val="0C1636"/>
                </a:solidFill>
                <a:latin typeface="Arial"/>
                <a:ea typeface="Arial"/>
                <a:cs typeface="Arial"/>
              </a:rPr>
              <a:t>Demo: verification-before-completion</a:t>
            </a:r>
          </a:p>
        </p:txBody>
      </p:sp>
      <p:sp>
        <p:nvSpPr>
          <p:cNvPr id="2" name="">
            <a:extLst xmlns:a="http://schemas.openxmlformats.org/drawingml/2006/main">
              <a:ext uri="{FF2B5EF4-FFF2-40B4-BE49-F238E27FC236}">
                <a16:creationId xmlns:a16="http://schemas.microsoft.com/office/drawing/2014/main" id="{CBA9F62C-1FCB-4706-A80A-EEB0CC06044A}"/>
              </a:ext>
            </a:extLst>
          </p:cNvPr>
          <p:cNvSpPr>
            <a:spLocks xmlns:a="http://schemas.openxmlformats.org/drawingml/2006/main" noGrp="1"/>
          </p:cNvSpPr>
          <p:nvPr/>
        </p:nvSpPr>
        <p:spPr>
          <a:xfrm xmlns:a="http://schemas.openxmlformats.org/drawingml/2006/main">
            <a:off x="647700" y="6343650"/>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3617A"/>
                </a:solidFill>
                <a:latin typeface="Arial"/>
                <a:ea typeface="Arial"/>
                <a:cs typeface="Arial"/>
              </a:defRPr>
            </a:defPPr>
          </a:lstStyle>
          <a:p xmlns:a="http://schemas.openxmlformats.org/drawingml/2006/main">
            <a:pPr>
              <a:buNone/>
              <a:defRPr sz="1500" b="0">
                <a:solidFill>
                  <a:srgbClr val="53617A"/>
                </a:solidFill>
                <a:latin typeface="Arial"/>
                <a:ea typeface="Arial"/>
                <a:cs typeface="Arial"/>
              </a:defRPr>
            </a:pPr>
            <a:r>
              <a:rPr sz="1500" b="0">
                <a:solidFill>
                  <a:srgbClr val="53617A"/>
                </a:solidFill>
                <a:latin typeface="Arial"/>
                <a:ea typeface="Arial"/>
                <a:cs typeface="Arial"/>
              </a:rPr>
              <a:t>6 / 7     03:10–04:45</a:t>
            </a:r>
          </a:p>
        </p:txBody>
      </p:sp>
      <p:sp>
        <p:nvSpPr>
          <p:cNvPr id="3" name="">
            <a:extLst xmlns:a="http://schemas.openxmlformats.org/drawingml/2006/main">
              <a:ext uri="{FF2B5EF4-FFF2-40B4-BE49-F238E27FC236}">
                <a16:creationId xmlns:a16="http://schemas.microsoft.com/office/drawing/2014/main" id="{8FC29762-65D6-4BC4-B572-7D552F7DD389}"/>
              </a:ext>
            </a:extLst>
          </p:cNvPr>
          <p:cNvSpPr>
            <a:spLocks xmlns:a="http://schemas.openxmlformats.org/drawingml/2006/main" noGrp="1"/>
          </p:cNvSpPr>
          <p:nvPr/>
        </p:nvSpPr>
        <p:spPr>
          <a:xfrm xmlns:a="http://schemas.openxmlformats.org/drawingml/2006/main">
            <a:off x="647700" y="1552575"/>
            <a:ext cx="10896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53617A"/>
                </a:solidFill>
                <a:latin typeface="Arial"/>
                <a:ea typeface="Arial"/>
                <a:cs typeface="Arial"/>
              </a:defRPr>
            </a:defPPr>
          </a:lstStyle>
          <a:p xmlns:a="http://schemas.openxmlformats.org/drawingml/2006/main">
            <a:pPr>
              <a:buNone/>
              <a:defRPr sz="2100" b="0">
                <a:solidFill>
                  <a:srgbClr val="53617A"/>
                </a:solidFill>
                <a:latin typeface="Arial"/>
                <a:ea typeface="Arial"/>
                <a:cs typeface="Arial"/>
              </a:defRPr>
            </a:pPr>
            <a:r>
              <a:rPr sz="2100" b="0">
                <a:solidFill>
                  <a:srgbClr val="53617A"/>
                </a:solidFill>
                <a:latin typeface="Arial"/>
                <a:ea typeface="Arial"/>
                <a:cs typeface="Arial"/>
              </a:rPr>
              <a:t>Superpowers, de Jesse Vincent y colaboradores</a:t>
            </a:r>
          </a:p>
        </p:txBody>
      </p:sp>
      <p:sp>
        <p:nvSpPr>
          <p:cNvPr id="4" name="">
            <a:extLst xmlns:a="http://schemas.openxmlformats.org/drawingml/2006/main">
              <a:ext uri="{FF2B5EF4-FFF2-40B4-BE49-F238E27FC236}">
                <a16:creationId xmlns:a16="http://schemas.microsoft.com/office/drawing/2014/main" id="{0DC310C1-95E8-45F8-8532-07F9399F4297}"/>
              </a:ext>
            </a:extLst>
          </p:cNvPr>
          <p:cNvSpPr>
            <a:spLocks xmlns:a="http://schemas.openxmlformats.org/drawingml/2006/main" noGrp="1"/>
          </p:cNvSpPr>
          <p:nvPr/>
        </p:nvSpPr>
        <p:spPr>
          <a:xfrm xmlns:a="http://schemas.openxmlformats.org/drawingml/2006/main">
            <a:off x="647700" y="2276475"/>
            <a:ext cx="10896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0C1636"/>
                </a:solidFill>
                <a:latin typeface="Arial"/>
                <a:ea typeface="Arial"/>
                <a:cs typeface="Arial"/>
              </a:defRPr>
            </a:defPPr>
          </a:lstStyle>
          <a:p xmlns:a="http://schemas.openxmlformats.org/drawingml/2006/main">
            <a:pPr>
              <a:buNone/>
              <a:defRPr sz="2850" b="1">
                <a:solidFill>
                  <a:srgbClr val="0C1636"/>
                </a:solidFill>
                <a:latin typeface="Arial"/>
                <a:ea typeface="Arial"/>
                <a:cs typeface="Arial"/>
              </a:defRPr>
            </a:pPr>
            <a:r>
              <a:rPr sz="2850" b="1">
                <a:solidFill>
                  <a:srgbClr val="0C1636"/>
                </a:solidFill>
                <a:latin typeface="Arial"/>
                <a:ea typeface="Arial"/>
                <a:cs typeface="Arial"/>
              </a:rPr>
              <a:t>¿Está lista la actualización de estados para revisión?</a:t>
            </a:r>
          </a:p>
        </p:txBody>
      </p:sp>
      <p:sp>
        <p:nvSpPr>
          <p:cNvPr id="5" name="">
            <a:extLst xmlns:a="http://schemas.openxmlformats.org/drawingml/2006/main">
              <a:ext uri="{FF2B5EF4-FFF2-40B4-BE49-F238E27FC236}">
                <a16:creationId xmlns:a16="http://schemas.microsoft.com/office/drawing/2014/main" id="{4DB9FCE8-2DCE-47B6-910E-6372F09A24E0}"/>
              </a:ext>
            </a:extLst>
          </p:cNvPr>
          <p:cNvSpPr>
            <a:spLocks xmlns:a="http://schemas.openxmlformats.org/drawingml/2006/main" noGrp="1"/>
          </p:cNvSpPr>
          <p:nvPr/>
        </p:nvSpPr>
        <p:spPr>
          <a:xfrm xmlns:a="http://schemas.openxmlformats.org/drawingml/2006/main">
            <a:off x="647700" y="3476625"/>
            <a:ext cx="10896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17213C"/>
                </a:solidFill>
                <a:latin typeface="Arial"/>
                <a:ea typeface="Arial"/>
                <a:cs typeface="Arial"/>
              </a:defRPr>
            </a:defPPr>
          </a:lstStyle>
          <a:p xmlns:a="http://schemas.openxmlformats.org/drawingml/2006/main">
            <a:pPr>
              <a:buNone/>
              <a:defRPr sz="2250" b="0">
                <a:solidFill>
                  <a:srgbClr val="17213C"/>
                </a:solidFill>
                <a:latin typeface="Arial"/>
                <a:ea typeface="Arial"/>
                <a:cs typeface="Arial"/>
              </a:defRPr>
            </a:pPr>
            <a:r>
              <a:rPr sz="2250" b="0">
                <a:solidFill>
                  <a:srgbClr val="17213C"/>
                </a:solidFill>
                <a:latin typeface="Arial"/>
                <a:ea typeface="Arial"/>
                <a:cs typeface="Arial"/>
              </a:rPr>
              <a:t>En Codex: misma petición con la skill y sin skills</a:t>
            </a:r>
          </a:p>
          <a:p xmlns:a="http://schemas.openxmlformats.org/drawingml/2006/main">
            <a:pPr>
              <a:buNone/>
              <a:defRPr sz="2250" b="0">
                <a:solidFill>
                  <a:srgbClr val="17213C"/>
                </a:solidFill>
                <a:latin typeface="Arial"/>
                <a:ea typeface="Arial"/>
                <a:cs typeface="Arial"/>
              </a:defRPr>
            </a:pPr>
            <a:r>
              <a:rPr sz="2250" b="0">
                <a:solidFill>
                  <a:srgbClr val="17213C"/>
                </a:solidFill>
                <a:latin typeface="Arial"/>
                <a:ea typeface="Arial"/>
                <a:cs typeface="Arial"/>
              </a:rPr>
              <a:t>Mismo commit y modelo en conversaciones separadas</a:t>
            </a:r>
          </a:p>
        </p:txBody>
      </p:sp>
      <p:sp>
        <p:nvSpPr>
          <p:cNvPr id="6" name="">
            <a:extLst xmlns:a="http://schemas.openxmlformats.org/drawingml/2006/main">
              <a:ext uri="{FF2B5EF4-FFF2-40B4-BE49-F238E27FC236}">
                <a16:creationId xmlns:a16="http://schemas.microsoft.com/office/drawing/2014/main" id="{E9C32CDB-D46B-43F6-9283-7963B457D0C8}"/>
              </a:ext>
            </a:extLst>
          </p:cNvPr>
          <p:cNvSpPr>
            <a:spLocks xmlns:a="http://schemas.openxmlformats.org/drawingml/2006/main" noGrp="1"/>
          </p:cNvSpPr>
          <p:nvPr/>
        </p:nvSpPr>
        <p:spPr>
          <a:xfrm xmlns:a="http://schemas.openxmlformats.org/drawingml/2006/main">
            <a:off x="647700" y="4791075"/>
            <a:ext cx="10896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195BE4"/>
                </a:solidFill>
                <a:latin typeface="Arial"/>
                <a:ea typeface="Arial"/>
                <a:cs typeface="Arial"/>
              </a:defRPr>
            </a:defPPr>
          </a:lstStyle>
          <a:p xmlns:a="http://schemas.openxmlformats.org/drawingml/2006/main">
            <a:pPr>
              <a:buNone/>
              <a:defRPr sz="2250" b="1">
                <a:solidFill>
                  <a:srgbClr val="195BE4"/>
                </a:solidFill>
                <a:latin typeface="Arial"/>
                <a:ea typeface="Arial"/>
                <a:cs typeface="Arial"/>
              </a:defRPr>
            </a:pPr>
            <a:r>
              <a:rPr sz="2250" b="1">
                <a:solidFill>
                  <a:srgbClr val="195BE4"/>
                </a:solidFill>
                <a:latin typeface="Arial"/>
                <a:ea typeface="Arial"/>
                <a:cs typeface="Arial"/>
              </a:rPr>
              <a:t>Evidencia a observar: comando, resultado y pendientes</a:t>
            </a:r>
          </a:p>
        </p:txBody>
      </p:sp>
      <p:sp>
        <p:nvSpPr>
          <p:cNvPr id="7" name="">
            <a:extLst xmlns:a="http://schemas.openxmlformats.org/drawingml/2006/main">
              <a:ext uri="{FF2B5EF4-FFF2-40B4-BE49-F238E27FC236}">
                <a16:creationId xmlns:a16="http://schemas.microsoft.com/office/drawing/2014/main" id="{6B14A703-3355-4D2D-828E-35406A5E6EDB}"/>
              </a:ext>
            </a:extLst>
          </p:cNvPr>
          <p:cNvSpPr>
            <a:spLocks xmlns:a="http://schemas.openxmlformats.org/drawingml/2006/main" noGrp="1"/>
          </p:cNvSpPr>
          <p:nvPr/>
        </p:nvSpPr>
        <p:spPr>
          <a:xfrm xmlns:a="http://schemas.openxmlformats.org/drawingml/2006/main">
            <a:off x="647700" y="5772150"/>
            <a:ext cx="10896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3617A"/>
                </a:solidFill>
                <a:latin typeface="Arial"/>
                <a:ea typeface="Arial"/>
                <a:cs typeface="Arial"/>
              </a:defRPr>
            </a:defPPr>
          </a:lstStyle>
          <a:p xmlns:a="http://schemas.openxmlformats.org/drawingml/2006/main">
            <a:pPr>
              <a:buNone/>
              <a:defRPr sz="1800" b="0">
                <a:solidFill>
                  <a:srgbClr val="53617A"/>
                </a:solidFill>
                <a:latin typeface="Arial"/>
                <a:ea typeface="Arial"/>
                <a:cs typeface="Arial"/>
              </a:defRPr>
            </a:pPr>
            <a:r>
              <a:rPr sz="1800" b="0">
                <a:solidFill>
                  <a:srgbClr val="53617A"/>
                </a:solidFill>
                <a:latin typeface="Arial"/>
                <a:ea typeface="Arial"/>
                <a:cs typeface="Arial"/>
              </a:rPr>
              <a:t>Invocación desde /skills o el menú / de skills habilitadas</a:t>
            </a:r>
          </a:p>
        </p:txBody>
      </p:sp>
    </p:spTree>
    <p:extLst>
      <p:ext uri="{BB962C8B-B14F-4D97-AF65-F5344CB8AC3E}">
        <p14:creationId xmlns:p14="http://schemas.microsoft.com/office/powerpoint/2010/main" val="1090218052"/>
      </p:ext>
    </p:extLst>
  </p:cSld>
</p:sld>
</file>

<file path=ppt/slides/slide7.xml><?xml version="1.0" encoding="utf-8"?>
<p:sld xmlns:p="http://schemas.openxmlformats.org/presentationml/2006/main">
  <p:cSld>
    <p:bg>
      <p:bgPr>
        <a:solidFill xmlns:a="http://schemas.openxmlformats.org/drawingml/2006/main">
          <a:srgbClr val="0C163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3984F16-EEA7-4A9E-BCF2-33C760392A65}"/>
              </a:ext>
            </a:extLst>
          </p:cNvPr>
          <p:cNvSpPr>
            <a:spLocks xmlns:a="http://schemas.openxmlformats.org/drawingml/2006/main" noGrp="1"/>
          </p:cNvSpPr>
          <p:nvPr/>
        </p:nvSpPr>
        <p:spPr>
          <a:xfrm xmlns:a="http://schemas.openxmlformats.org/drawingml/2006/main">
            <a:off x="647700" y="571500"/>
            <a:ext cx="10896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FFFFFF"/>
                </a:solidFill>
                <a:latin typeface="Arial"/>
                <a:ea typeface="Arial"/>
                <a:cs typeface="Arial"/>
              </a:defRPr>
            </a:defPPr>
          </a:lstStyle>
          <a:p xmlns:a="http://schemas.openxmlformats.org/drawingml/2006/main">
            <a:pPr>
              <a:buNone/>
              <a:defRPr sz="3300" b="1">
                <a:solidFill>
                  <a:srgbClr val="FFFFFF"/>
                </a:solidFill>
                <a:latin typeface="Arial"/>
                <a:ea typeface="Arial"/>
                <a:cs typeface="Arial"/>
              </a:defRPr>
            </a:pPr>
            <a:r>
              <a:rPr sz="3300" b="1">
                <a:solidFill>
                  <a:srgbClr val="FFFFFF"/>
                </a:solidFill>
                <a:latin typeface="Arial"/>
                <a:ea typeface="Arial"/>
                <a:cs typeface="Arial"/>
              </a:rPr>
              <a:t>Conclusión y siguiente paso</a:t>
            </a:r>
          </a:p>
        </p:txBody>
      </p:sp>
      <p:sp>
        <p:nvSpPr>
          <p:cNvPr id="2" name="">
            <a:extLst xmlns:a="http://schemas.openxmlformats.org/drawingml/2006/main">
              <a:ext uri="{FF2B5EF4-FFF2-40B4-BE49-F238E27FC236}">
                <a16:creationId xmlns:a16="http://schemas.microsoft.com/office/drawing/2014/main" id="{2C19440E-7FE8-4E77-84E7-DF5C44344C6D}"/>
              </a:ext>
            </a:extLst>
          </p:cNvPr>
          <p:cNvSpPr>
            <a:spLocks xmlns:a="http://schemas.openxmlformats.org/drawingml/2006/main" noGrp="1"/>
          </p:cNvSpPr>
          <p:nvPr/>
        </p:nvSpPr>
        <p:spPr>
          <a:xfrm xmlns:a="http://schemas.openxmlformats.org/drawingml/2006/main">
            <a:off x="647700" y="6343650"/>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78DDF1"/>
                </a:solidFill>
                <a:latin typeface="Arial"/>
                <a:ea typeface="Arial"/>
                <a:cs typeface="Arial"/>
              </a:defRPr>
            </a:defPPr>
          </a:lstStyle>
          <a:p xmlns:a="http://schemas.openxmlformats.org/drawingml/2006/main">
            <a:pPr>
              <a:buNone/>
              <a:defRPr sz="1500" b="0">
                <a:solidFill>
                  <a:srgbClr val="78DDF1"/>
                </a:solidFill>
                <a:latin typeface="Arial"/>
                <a:ea typeface="Arial"/>
                <a:cs typeface="Arial"/>
              </a:defRPr>
            </a:pPr>
            <a:r>
              <a:rPr sz="1500" b="0">
                <a:solidFill>
                  <a:srgbClr val="78DDF1"/>
                </a:solidFill>
                <a:latin typeface="Arial"/>
                <a:ea typeface="Arial"/>
                <a:cs typeface="Arial"/>
              </a:rPr>
              <a:t>7 / 7     04:45–05:00</a:t>
            </a:r>
          </a:p>
        </p:txBody>
      </p:sp>
      <p:sp>
        <p:nvSpPr>
          <p:cNvPr id="3" name="">
            <a:extLst xmlns:a="http://schemas.openxmlformats.org/drawingml/2006/main">
              <a:ext uri="{FF2B5EF4-FFF2-40B4-BE49-F238E27FC236}">
                <a16:creationId xmlns:a16="http://schemas.microsoft.com/office/drawing/2014/main" id="{9B69912D-38B0-4DDC-ACD5-D33787F29EA4}"/>
              </a:ext>
            </a:extLst>
          </p:cNvPr>
          <p:cNvSpPr>
            <a:spLocks xmlns:a="http://schemas.openxmlformats.org/drawingml/2006/main" noGrp="1"/>
          </p:cNvSpPr>
          <p:nvPr/>
        </p:nvSpPr>
        <p:spPr>
          <a:xfrm xmlns:a="http://schemas.openxmlformats.org/drawingml/2006/main">
            <a:off x="647700" y="2028825"/>
            <a:ext cx="108966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525" b="1">
                <a:solidFill>
                  <a:srgbClr val="FFFFFF"/>
                </a:solidFill>
                <a:latin typeface="Arial"/>
                <a:ea typeface="Arial"/>
                <a:cs typeface="Arial"/>
              </a:defRPr>
            </a:defPPr>
          </a:lstStyle>
          <a:p xmlns:a="http://schemas.openxmlformats.org/drawingml/2006/main">
            <a:pPr>
              <a:buNone/>
              <a:defRPr sz="3525" b="1">
                <a:solidFill>
                  <a:srgbClr val="FFFFFF"/>
                </a:solidFill>
                <a:latin typeface="Arial"/>
                <a:ea typeface="Arial"/>
                <a:cs typeface="Arial"/>
              </a:defRPr>
            </a:pPr>
            <a:r>
              <a:rPr sz="3525" b="1">
                <a:solidFill>
                  <a:srgbClr val="FFFFFF"/>
                </a:solidFill>
                <a:latin typeface="Arial"/>
                <a:ea typeface="Arial"/>
                <a:cs typeface="Arial"/>
              </a:rPr>
              <a:t>Las skills deben encajar con el código existente</a:t>
            </a:r>
          </a:p>
        </p:txBody>
      </p:sp>
      <p:sp>
        <p:nvSpPr>
          <p:cNvPr id="4" name="">
            <a:extLst xmlns:a="http://schemas.openxmlformats.org/drawingml/2006/main">
              <a:ext uri="{FF2B5EF4-FFF2-40B4-BE49-F238E27FC236}">
                <a16:creationId xmlns:a16="http://schemas.microsoft.com/office/drawing/2014/main" id="{A3BCE500-C903-40BA-BBAF-F5BAD8278C4E}"/>
              </a:ext>
            </a:extLst>
          </p:cNvPr>
          <p:cNvSpPr>
            <a:spLocks xmlns:a="http://schemas.openxmlformats.org/drawingml/2006/main" noGrp="1"/>
          </p:cNvSpPr>
          <p:nvPr/>
        </p:nvSpPr>
        <p:spPr>
          <a:xfrm xmlns:a="http://schemas.openxmlformats.org/drawingml/2006/main">
            <a:off x="647700" y="3667125"/>
            <a:ext cx="108966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0">
                <a:solidFill>
                  <a:srgbClr val="78DDF1"/>
                </a:solidFill>
                <a:latin typeface="Arial"/>
                <a:ea typeface="Arial"/>
                <a:cs typeface="Arial"/>
              </a:defRPr>
            </a:defPPr>
          </a:lstStyle>
          <a:p xmlns:a="http://schemas.openxmlformats.org/drawingml/2006/main">
            <a:pPr>
              <a:buNone/>
              <a:defRPr sz="2400" b="0">
                <a:solidFill>
                  <a:srgbClr val="78DDF1"/>
                </a:solidFill>
                <a:latin typeface="Arial"/>
                <a:ea typeface="Arial"/>
                <a:cs typeface="Arial"/>
              </a:defRPr>
            </a:pPr>
            <a:r>
              <a:rPr sz="2400" b="0">
                <a:solidFill>
                  <a:srgbClr val="78DDF1"/>
                </a:solidFill>
                <a:latin typeface="Arial"/>
                <a:ea typeface="Arial"/>
                <a:cs typeface="Arial"/>
              </a:rPr>
              <a:t>Completar fichas y crear la skill propia</a:t>
            </a:r>
          </a:p>
          <a:p xmlns:a="http://schemas.openxmlformats.org/drawingml/2006/main">
            <a:pPr>
              <a:buNone/>
              <a:defRPr sz="2400" b="0">
                <a:solidFill>
                  <a:srgbClr val="78DDF1"/>
                </a:solidFill>
                <a:latin typeface="Arial"/>
                <a:ea typeface="Arial"/>
                <a:cs typeface="Arial"/>
              </a:defRPr>
            </a:pPr>
            <a:r>
              <a:rPr sz="2400" b="0">
                <a:solidFill>
                  <a:srgbClr val="78DDF1"/>
                </a:solidFill>
                <a:latin typeface="Arial"/>
                <a:ea typeface="Arial"/>
                <a:cs typeface="Arial"/>
              </a:rPr>
              <a:t>Ensayar la comparación antes del showcase</a:t>
            </a:r>
          </a:p>
        </p:txBody>
      </p:sp>
      <p:sp>
        <p:nvSpPr>
          <p:cNvPr id="5" name="">
            <a:extLst xmlns:a="http://schemas.openxmlformats.org/drawingml/2006/main">
              <a:ext uri="{FF2B5EF4-FFF2-40B4-BE49-F238E27FC236}">
                <a16:creationId xmlns:a16="http://schemas.microsoft.com/office/drawing/2014/main" id="{69D6109D-ACE1-41A1-BFF1-AB97C77EE584}"/>
              </a:ext>
            </a:extLst>
          </p:cNvPr>
          <p:cNvSpPr>
            <a:spLocks xmlns:a="http://schemas.openxmlformats.org/drawingml/2006/main" noGrp="1"/>
          </p:cNvSpPr>
          <p:nvPr/>
        </p:nvSpPr>
        <p:spPr>
          <a:xfrm xmlns:a="http://schemas.openxmlformats.org/drawingml/2006/main">
            <a:off x="647700" y="5381625"/>
            <a:ext cx="10896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FFFFFF"/>
                </a:solidFill>
                <a:latin typeface="Arial"/>
                <a:ea typeface="Arial"/>
                <a:cs typeface="Arial"/>
              </a:defRPr>
            </a:defPPr>
          </a:lstStyle>
          <a:p xmlns:a="http://schemas.openxmlformats.org/drawingml/2006/main">
            <a:pPr>
              <a:buNone/>
              <a:defRPr sz="2025" b="0">
                <a:solidFill>
                  <a:srgbClr val="FFFFFF"/>
                </a:solidFill>
                <a:latin typeface="Arial"/>
                <a:ea typeface="Arial"/>
                <a:cs typeface="Arial"/>
              </a:defRPr>
            </a:pPr>
            <a:r>
              <a:rPr sz="2025" b="0">
                <a:solidFill>
                  <a:srgbClr val="FFFFFF"/>
                </a:solidFill>
                <a:latin typeface="Arial"/>
                <a:ea typeface="Arial"/>
                <a:cs typeface="Arial"/>
              </a:rPr>
              <a:t>Desarrollo posterior: especificación, pruebas y PR revisado</a:t>
            </a:r>
          </a:p>
        </p:txBody>
      </p:sp>
    </p:spTree>
    <p:extLst>
      <p:ext uri="{BB962C8B-B14F-4D97-AF65-F5344CB8AC3E}">
        <p14:creationId xmlns:p14="http://schemas.microsoft.com/office/powerpoint/2010/main" val="4274583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2026-10-15T21:22:00.0380000Z</dcterms:created>
  <dcterms:modified xsi:type="dcterms:W3CDTF">2026-10-15T21:22:00.0380000Z</dcterms:modified>
</coreProperties>
</file>